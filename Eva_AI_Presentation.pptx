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84" r:id="rId5"/>
    <p:sldId id="258" r:id="rId6"/>
    <p:sldId id="283" r:id="rId7"/>
    <p:sldId id="260" r:id="rId8"/>
    <p:sldId id="296" r:id="rId9"/>
    <p:sldId id="299" r:id="rId10"/>
    <p:sldId id="298" r:id="rId11"/>
    <p:sldId id="300" r:id="rId12"/>
    <p:sldId id="267" r:id="rId13"/>
    <p:sldId id="288" r:id="rId14"/>
    <p:sldId id="294" r:id="rId15"/>
    <p:sldId id="271" r:id="rId16"/>
    <p:sldId id="282" r:id="rId17"/>
    <p:sldId id="286" r:id="rId18"/>
    <p:sldId id="29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504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E5E99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7BA4D0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 AI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868680" y="2999232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2294B"/>
          </a:solidFill>
          <a:ln w="12700">
            <a:solidFill>
              <a:srgbClr val="7BA4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29992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 · RAG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37033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AI for adrenal insufficiency care, built on NICE Guideline NG243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4224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traced to a page. Every claim backed by a citation. Nothing else.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41248" y="6126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 CASES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38728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38728" y="6126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RECALL@5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36208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6126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FAIL-CLOSED GUARDRAIL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33688" y="5623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33688" y="6126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RELEASE GATES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08415" y="384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NG243 · Hackathon Prototype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70821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Guidelines Are Trustworthy. Generic AI Isn’t.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2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984248"/>
            <a:ext cx="566928" cy="566928"/>
          </a:xfrm>
          <a:prstGeom prst="ellipse">
            <a:avLst/>
          </a:prstGeom>
          <a:solidFill>
            <a:srgbClr val="7BA4D0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eva_pptx/icons/ale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2598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are long &amp; dense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NG243 spans dozens of pages of numbered recommendations, sick-day rules, and emergency protocols — too slow to search under time pressure.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2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56248" y="1984248"/>
            <a:ext cx="566928" cy="566928"/>
          </a:xfrm>
          <a:prstGeom prst="ellipse">
            <a:avLst/>
          </a:prstGeom>
          <a:solidFill>
            <a:srgbClr val="7BA4D0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eva_pptx/icons/ba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12598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LLMs hallucinate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6248" y="2606040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chatbots answer confidently from parametric memory, with no guarantee an answer traces back to a real, current, registered guideline.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2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315968"/>
            <a:ext cx="566928" cy="566928"/>
          </a:xfrm>
          <a:prstGeom prst="ellipse">
            <a:avLst/>
          </a:prstGeom>
          <a:solidFill>
            <a:srgbClr val="7BA4D0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eva_pptx/icons/x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45770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976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doses can be fatal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" y="4937760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confused unit (100mg vs 100g) or a wrongly-negated instruction (“stop steroids” during sepsis) can precipitate a fatal adrenal crisis.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2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6248" y="4315968"/>
            <a:ext cx="566928" cy="566928"/>
          </a:xfrm>
          <a:prstGeom prst="ellipse">
            <a:avLst/>
          </a:prstGeom>
          <a:solidFill>
            <a:srgbClr val="7BA4D0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eva_pptx/icons/clo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45770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976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time for manual lookup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6248" y="4937760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 adrenal crisis or sick-day decision, clinicians need a verified, page-cited answer in seconds — not a 60-page PDF search.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First. Answer Second. Refuse Otherwise.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pairs a high-performance FastAPI backend with a Next.js 15 Soft-UI frontend around one non-negotiable idea: no generation path exists that can bypass retrieval. The LLM only ever paraphrases evidence it was just handed — it cannot answer from memory.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E7F0FA"/>
          </a:solidFill>
          <a:ln/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60604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eva_pptx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743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82112" y="2807208"/>
            <a:ext cx="26517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74720" y="2377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E7F0FA"/>
          </a:solidFill>
          <a:ln/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75888" y="260604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eva_pptx/icons/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27432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Verify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08192" y="2807208"/>
            <a:ext cx="26517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00800" y="2377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E7F0FA"/>
          </a:solidFill>
          <a:ln/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601968" y="260604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eva_pptx/icons/messa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743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34272" y="2807208"/>
            <a:ext cx="26517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26880" y="2377440"/>
            <a:ext cx="2606040" cy="1005840"/>
          </a:xfrm>
          <a:prstGeom prst="roundRect">
            <a:avLst>
              <a:gd name="adj" fmla="val 8182"/>
            </a:avLst>
          </a:prstGeom>
          <a:solidFill>
            <a:srgbClr val="E7F0FA"/>
          </a:solidFill>
          <a:ln/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528048" y="2606040"/>
            <a:ext cx="548640" cy="548640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eva_pptx/icons/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08" y="27432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9556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Claim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3703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CONSTITUTION — SIX GUIDING PRINCIPLES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041648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13232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13232" y="448056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Answers Only</a:t>
            </a:r>
            <a:endParaRPr lang="en-US" sz="1130" dirty="0"/>
          </a:p>
        </p:txBody>
      </p:sp>
      <p:sp>
        <p:nvSpPr>
          <p:cNvPr id="28" name="Text 22"/>
          <p:cNvSpPr/>
          <p:nvPr/>
        </p:nvSpPr>
        <p:spPr>
          <a:xfrm>
            <a:off x="713232" y="4828032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path can bypass retrieval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370832" y="4041648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535424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4535424" y="448056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Metadata Is Structural</a:t>
            </a:r>
            <a:endParaRPr lang="en-US" sz="1130" dirty="0"/>
          </a:p>
        </p:txBody>
      </p:sp>
      <p:sp>
        <p:nvSpPr>
          <p:cNvPr id="32" name="Text 26"/>
          <p:cNvSpPr/>
          <p:nvPr/>
        </p:nvSpPr>
        <p:spPr>
          <a:xfrm>
            <a:off x="4535424" y="4828032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page, section &amp; chunk id on every vector entry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8193024" y="4041648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8357616" y="4169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8357616" y="448056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Legitimacy &amp; Provenance</a:t>
            </a:r>
            <a:endParaRPr lang="en-US" sz="1130" dirty="0"/>
          </a:p>
        </p:txBody>
      </p:sp>
      <p:sp>
        <p:nvSpPr>
          <p:cNvPr id="36" name="Text 30"/>
          <p:cNvSpPr/>
          <p:nvPr/>
        </p:nvSpPr>
        <p:spPr>
          <a:xfrm>
            <a:off x="8357616" y="4828032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corpus PDF registered with credibility justification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48640" y="5376672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713232" y="5504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9" name="Text 33"/>
          <p:cNvSpPr/>
          <p:nvPr/>
        </p:nvSpPr>
        <p:spPr>
          <a:xfrm>
            <a:off x="713232" y="5815584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Scope Discipline</a:t>
            </a:r>
            <a:endParaRPr lang="en-US" sz="1130" dirty="0"/>
          </a:p>
        </p:txBody>
      </p:sp>
      <p:sp>
        <p:nvSpPr>
          <p:cNvPr id="40" name="Text 34"/>
          <p:cNvSpPr/>
          <p:nvPr/>
        </p:nvSpPr>
        <p:spPr>
          <a:xfrm>
            <a:off x="713232" y="61630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strictly to adrenal insufficiency (NG243)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370832" y="5376672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4535424" y="5504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37"/>
          <p:cNvSpPr/>
          <p:nvPr/>
        </p:nvSpPr>
        <p:spPr>
          <a:xfrm>
            <a:off x="4535424" y="5815584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Delivery</a:t>
            </a:r>
            <a:endParaRPr lang="en-US" sz="1130" dirty="0"/>
          </a:p>
        </p:txBody>
      </p:sp>
      <p:sp>
        <p:nvSpPr>
          <p:cNvPr id="44" name="Text 38"/>
          <p:cNvSpPr/>
          <p:nvPr/>
        </p:nvSpPr>
        <p:spPr>
          <a:xfrm>
            <a:off x="4535424" y="61630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verified &amp; benchmarked before generation shipped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8193024" y="5376672"/>
            <a:ext cx="3657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8357616" y="5504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A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7" name="Text 41"/>
          <p:cNvSpPr/>
          <p:nvPr/>
        </p:nvSpPr>
        <p:spPr>
          <a:xfrm>
            <a:off x="8357616" y="5815584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 Over Confidence</a:t>
            </a:r>
            <a:endParaRPr lang="en-US" sz="1130" dirty="0"/>
          </a:p>
        </p:txBody>
      </p:sp>
      <p:sp>
        <p:nvSpPr>
          <p:cNvPr id="48" name="Text 42"/>
          <p:cNvSpPr/>
          <p:nvPr/>
        </p:nvSpPr>
        <p:spPr>
          <a:xfrm>
            <a:off x="8357616" y="61630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evidence is shown, never hidden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8389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Component Topology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runs two processes (FastAPI :8000 + Next.js :3000); production serves the static frontend export from a single FastAPI process.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039112"/>
            <a:ext cx="502920" cy="502920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eva_pptx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15981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313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/ React 19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862072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87552" y="27340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Answer Inspector (page.tsx)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3483864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87552" y="33558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ChatView — SSE streaming chat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" y="4105656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87552" y="39776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SearchBox — Retrieve / Generate toggle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4727448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7552" y="4599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AnswerCard &amp; ChunkCard components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" y="5349240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87552" y="52212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EN / عربي Toggle + Theme Toggle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78808" y="3790188"/>
            <a:ext cx="146304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325112" y="17830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0D2440"/>
          </a:solidFill>
          <a:ln/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81144" y="2039112"/>
            <a:ext cx="502920" cy="502920"/>
          </a:xfrm>
          <a:prstGeom prst="ellipse">
            <a:avLst/>
          </a:prstGeom>
          <a:solidFill>
            <a:srgbClr val="7BA4D0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/home/claude/eva_pptx/icons/serv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845" y="2159813"/>
            <a:ext cx="261518" cy="26151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93792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193792" y="2313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Monolith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99432" y="286207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764024" y="27340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api/search.py — Search &amp; Health API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99432" y="3483864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764024" y="33558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api/generate.py — Generation &amp; SSE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99432" y="4105656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764024" y="39776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Retrieval · Generation engines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599432" y="4727448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4764024" y="4599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monitoring/sentry.py — PHI-safe tracing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599432" y="5349240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764024" y="52212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cli.py — ingest / query / eval / benchmark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7955280" y="3790188"/>
            <a:ext cx="146304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8101584" y="178308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8357616" y="2039112"/>
            <a:ext cx="502920" cy="502920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2" descr="/home/claude/eva_pptx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8317" y="2159813"/>
            <a:ext cx="261518" cy="26151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970264" y="20391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8970264" y="2313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Layer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375904" y="2862072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540496" y="27340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(data/index/)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375904" y="3483864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8540496" y="33558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— self-describing index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375904" y="4105656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8540496" y="39776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sources.yaml — provenance registry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8375904" y="4727448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8540496" y="4599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data/corpus/ — registered NG243 PDFs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375904" y="5349240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8540496" y="522122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OmniRoute / OpenRouter Gateway API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INGESTION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Clinical PDF to Citation-Ready Vector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NICE guideline PDFs become section-aware, atomic, citation-ready chunks without losing clinical context.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39776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697480" cy="228600"/>
          </a:xfrm>
          <a:prstGeom prst="rect">
            <a:avLst/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568196" y="2487168"/>
            <a:ext cx="658368" cy="658368"/>
          </a:xfrm>
          <a:prstGeom prst="ellipse">
            <a:avLst/>
          </a:prstGeom>
          <a:solidFill>
            <a:srgbClr val="E7F0FA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0" descr="/home/claude/eva_pptx/icons/checkShield_sapph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88" y="265176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2735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Extraction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" y="3950208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88924" y="3822192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registry check vs sources.yaml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4535424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88924" y="4407408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span extraction (font, weight, page #)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64408" y="374446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3447288" y="1828800"/>
            <a:ext cx="2697480" cy="39776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3447288" y="18288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3447288" y="2057400"/>
            <a:ext cx="2697480" cy="228600"/>
          </a:xfrm>
          <a:prstGeom prst="rect">
            <a:avLst/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3630168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66844" y="2487168"/>
            <a:ext cx="658368" cy="658368"/>
          </a:xfrm>
          <a:prstGeom prst="ellipse">
            <a:avLst/>
          </a:prstGeom>
          <a:solidFill>
            <a:srgbClr val="E7F0FA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1" descr="/home/claude/eva_pptx/icons/scissors_sapph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2651760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584448" y="32735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Structure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3630168" y="3950208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3687572" y="3822192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boilerplate / footer removal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630168" y="4535424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3687572" y="4407408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 &amp; hyphenation repair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630168" y="5120640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5"/>
          <p:cNvSpPr/>
          <p:nvPr/>
        </p:nvSpPr>
        <p:spPr>
          <a:xfrm>
            <a:off x="3687572" y="4992624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hierarchy detection (1.1 / 1.1.1)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163056" y="374446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6345936" y="1828800"/>
            <a:ext cx="2697480" cy="39776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8"/>
          <p:cNvSpPr/>
          <p:nvPr/>
        </p:nvSpPr>
        <p:spPr>
          <a:xfrm>
            <a:off x="6345936" y="18288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29"/>
          <p:cNvSpPr/>
          <p:nvPr/>
        </p:nvSpPr>
        <p:spPr>
          <a:xfrm>
            <a:off x="6345936" y="2057400"/>
            <a:ext cx="2697480" cy="228600"/>
          </a:xfrm>
          <a:prstGeom prst="rect">
            <a:avLst/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6528816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7365492" y="2487168"/>
            <a:ext cx="658368" cy="658368"/>
          </a:xfrm>
          <a:prstGeom prst="ellipse">
            <a:avLst/>
          </a:prstGeom>
          <a:solidFill>
            <a:srgbClr val="E7F0FA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6" name="Image 2" descr="/home/claude/eva_pptx/icons/layers_sapphi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084" y="2651760"/>
            <a:ext cx="329184" cy="32918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483096" y="32735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Chunking</a:t>
            </a:r>
            <a:endParaRPr lang="en-US" sz="1350" dirty="0"/>
          </a:p>
        </p:txBody>
      </p:sp>
      <p:sp>
        <p:nvSpPr>
          <p:cNvPr id="38" name="Shape 33"/>
          <p:cNvSpPr/>
          <p:nvPr/>
        </p:nvSpPr>
        <p:spPr>
          <a:xfrm>
            <a:off x="6528816" y="3950208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6586220" y="3822192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recommendations never split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528816" y="4535424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6"/>
          <p:cNvSpPr/>
          <p:nvPr/>
        </p:nvSpPr>
        <p:spPr>
          <a:xfrm>
            <a:off x="6586220" y="4407408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 budget packing (400–800 tok)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528816" y="5120640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38"/>
          <p:cNvSpPr/>
          <p:nvPr/>
        </p:nvSpPr>
        <p:spPr>
          <a:xfrm>
            <a:off x="6586220" y="4992624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chunks flagged, kept whole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9061704" y="374446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0"/>
          <p:cNvSpPr/>
          <p:nvPr/>
        </p:nvSpPr>
        <p:spPr>
          <a:xfrm>
            <a:off x="9244584" y="1828800"/>
            <a:ext cx="2697480" cy="39776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" name="Shape 41"/>
          <p:cNvSpPr/>
          <p:nvPr/>
        </p:nvSpPr>
        <p:spPr>
          <a:xfrm>
            <a:off x="9244584" y="18288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2"/>
          <p:cNvSpPr/>
          <p:nvPr/>
        </p:nvSpPr>
        <p:spPr>
          <a:xfrm>
            <a:off x="9244584" y="2057400"/>
            <a:ext cx="2697480" cy="228600"/>
          </a:xfrm>
          <a:prstGeom prst="rect">
            <a:avLst/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3"/>
          <p:cNvSpPr/>
          <p:nvPr/>
        </p:nvSpPr>
        <p:spPr>
          <a:xfrm>
            <a:off x="9427464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>
            <a:off x="10264140" y="2487168"/>
            <a:ext cx="658368" cy="658368"/>
          </a:xfrm>
          <a:prstGeom prst="ellipse">
            <a:avLst/>
          </a:prstGeom>
          <a:solidFill>
            <a:srgbClr val="E7F0FA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0" name="Image 3" descr="/home/claude/eva_pptx/icons/database_sapphi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8732" y="2651760"/>
            <a:ext cx="329184" cy="329184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9381744" y="32735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&amp; Indexing</a:t>
            </a:r>
            <a:endParaRPr lang="en-US" sz="1350" dirty="0"/>
          </a:p>
        </p:txBody>
      </p:sp>
      <p:sp>
        <p:nvSpPr>
          <p:cNvPr id="52" name="Shape 46"/>
          <p:cNvSpPr/>
          <p:nvPr/>
        </p:nvSpPr>
        <p:spPr>
          <a:xfrm>
            <a:off x="9427464" y="3950208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47"/>
          <p:cNvSpPr/>
          <p:nvPr/>
        </p:nvSpPr>
        <p:spPr>
          <a:xfrm>
            <a:off x="9484868" y="3822192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3072-dim Gemini embeddings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9427464" y="4535424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49"/>
          <p:cNvSpPr/>
          <p:nvPr/>
        </p:nvSpPr>
        <p:spPr>
          <a:xfrm>
            <a:off x="9484868" y="4407408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local BGE fallback collection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9427464" y="5120640"/>
            <a:ext cx="54864" cy="54864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1"/>
          <p:cNvSpPr/>
          <p:nvPr/>
        </p:nvSpPr>
        <p:spPr>
          <a:xfrm>
            <a:off x="9484868" y="4992624"/>
            <a:ext cx="239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collection swap + manifest.json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519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 Strategy: Vector + Keyword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and lexical search fail in different, complementary ways. Eva AI fuses both ranked lists with Reciprocal Rank Fusion so a chunk ranking highly on either signal surfaces near the top.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577840" cy="2011680"/>
          </a:xfrm>
          <a:prstGeom prst="roundRect">
            <a:avLst>
              <a:gd name="adj" fmla="val 4091"/>
            </a:avLst>
          </a:prstGeom>
          <a:solidFill>
            <a:srgbClr val="0D2440"/>
          </a:solidFill>
          <a:ln/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SCORE FORMULA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5024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score(d) = Σ weight × 1 / (k + rankᵢ(d))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60" i="1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60 · summed across the dense and BM25 ranked lists · scores min-max normalised before the relevance floor is applied.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 WINS ON THIS CORPUS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000" y="5143500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4927600"/>
            <a:ext cx="558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exact drug names &amp; dose numbers (BM25) missed by pure semantic search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35000" y="5588000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5372100"/>
            <a:ext cx="558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paraphrased clinical questions (dense) missed by pure keyword search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35000" y="6032500"/>
            <a:ext cx="64008" cy="64008"/>
          </a:xfrm>
          <a:prstGeom prst="ellipse">
            <a:avLst/>
          </a:prstGeom>
          <a:solidFill>
            <a:srgbClr val="2E5E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31520" y="5816600"/>
            <a:ext cx="558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measured and rejected: hybrid holds a 100% hit rate at 12ms/query vs 94.4% at 3,194 ms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446520" y="1371600"/>
            <a:ext cx="516636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720840" y="15727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— GOLDEN SET (20 QUESTIONS)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20840" y="201168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06840" y="201168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95560" y="201168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0840" y="243230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06840" y="243230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95560" y="243230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2852928"/>
            <a:ext cx="5166360" cy="420624"/>
          </a:xfrm>
          <a:prstGeom prst="rect">
            <a:avLst/>
          </a:prstGeom>
          <a:solidFill>
            <a:srgbClr val="E7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0840" y="285292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hit rate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06840" y="28529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95560" y="285292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327355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mean hit rank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06840" y="32735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195560" y="327355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46520" y="3694176"/>
            <a:ext cx="5166360" cy="420624"/>
          </a:xfrm>
          <a:prstGeom prst="rect">
            <a:avLst/>
          </a:prstGeom>
          <a:solidFill>
            <a:srgbClr val="E7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0840" y="369417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Precision@3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06840" y="369417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0.389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195560" y="369417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  (+47%)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411480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Precision@5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06840" y="41148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195560" y="411480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46520" y="4535424"/>
            <a:ext cx="5166360" cy="420624"/>
          </a:xfrm>
          <a:prstGeom prst="rect">
            <a:avLst/>
          </a:prstGeom>
          <a:solidFill>
            <a:srgbClr val="E7F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840" y="453542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Precision@3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06840" y="453542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195560" y="453542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20840" y="50932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sectioning bug that misattributed 61% of the corpus to one section lifted Precision@3 by 47% with zero golden-set misses.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7171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2E5E99"/>
                </a:solidFill>
                <a:latin typeface="Calibri"/>
              </a:rPr>
              <a:t>RETRIEVAL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0D2440"/>
                </a:solidFill>
                <a:latin typeface="Cambria"/>
              </a:rPr>
              <a:t>What Actually Moved the Needle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0D2440"/>
                </a:solidFill>
                <a:latin typeface="Calibri"/>
              </a:rPr>
              <a:t>Two changes account for nearly all of Eva AI's retrieval gain — and one well-known technique was measured, then deliberately left out of the shipped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5778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596896"/>
            <a:ext cx="420624" cy="420624"/>
          </a:xfrm>
          <a:prstGeom prst="ellipse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5968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615184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0D2440"/>
                </a:solidFill>
                <a:latin typeface="Calibri"/>
              </a:rPr>
              <a:t>Section-Aware Atomic Chunking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944368"/>
            <a:ext cx="4526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4A73"/>
                </a:solidFill>
                <a:latin typeface="Calibri"/>
              </a:rPr>
              <a:t>A sectioning bug was misattributing 61% of the corpus to a single section. Fixing it — and never splitting a numbered NG243 recommendation across chunks — lifted Precision@3 by 47% with zero golden-set misses.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51376"/>
            <a:ext cx="55778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4370832"/>
            <a:ext cx="420624" cy="420624"/>
          </a:xfrm>
          <a:prstGeom prst="ellipse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7083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43891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0D2440"/>
                </a:solidFill>
                <a:latin typeface="Calibri"/>
              </a:rPr>
              <a:t>Cross-Encoder Reranker — Measured, Not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4718304"/>
            <a:ext cx="4526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4A73"/>
                </a:solidFill>
                <a:latin typeface="Calibri"/>
              </a:rPr>
              <a:t>We built the reranker (ms-marco-MiniLM-L-6-v2) and A/B'd it on the golden set. It *lowered* hit rate while adding ~3.2s per query, so the default path ships without it. Evidence beat intuition.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371600"/>
            <a:ext cx="5166360" cy="303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57276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D2440"/>
                </a:solidFill>
                <a:latin typeface="Calibri"/>
              </a:rPr>
              <a:t>CORPUS REALITY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29967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200" b="1">
                <a:solidFill>
                  <a:srgbClr val="2E5E99"/>
                </a:solidFill>
                <a:latin typeface="Cambria"/>
              </a:rPr>
              <a:t>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029967"/>
            <a:ext cx="3429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>
                <a:solidFill>
                  <a:srgbClr val="0D2440"/>
                </a:solidFill>
                <a:latin typeface="Calibri"/>
              </a:rPr>
              <a:t>pages of NG243 ingested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596896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200" b="1">
                <a:solidFill>
                  <a:srgbClr val="2E5E99"/>
                </a:solidFill>
                <a:latin typeface="Cambria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596896"/>
            <a:ext cx="3429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>
                <a:solidFill>
                  <a:srgbClr val="0D2440"/>
                </a:solidFill>
                <a:latin typeface="Calibri"/>
              </a:rPr>
              <a:t>atomic chunks after sectioning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163824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200" b="1">
                <a:solidFill>
                  <a:srgbClr val="2E5E99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163824"/>
            <a:ext cx="34290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>
                <a:solidFill>
                  <a:srgbClr val="0D2440"/>
                </a:solidFill>
                <a:latin typeface="Calibri"/>
              </a:rPr>
              <a:t>chunks retrieved per query (top_k)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670300"/>
            <a:ext cx="4617720" cy="711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4A73"/>
                </a:solidFill>
                <a:latin typeface="Calibri"/>
              </a:rPr>
              <a:t>One guideline compressed into 34 chunks is why Recall@5 is capped at 81%: for some questions the answering section simply is not among the five that exist to be ranked. The fix is corpus depth, not a better ranker.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590288"/>
            <a:ext cx="5166360" cy="1691640"/>
          </a:xfrm>
          <a:prstGeom prst="roundRect">
            <a:avLst/>
          </a:prstGeom>
          <a:solidFill>
            <a:srgbClr val="0D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4736592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7D9EF"/>
                </a:solidFill>
                <a:latin typeface="Calibri"/>
              </a:rPr>
              <a:t>RERANKER A/B — SHIPPED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01091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A8C6E8"/>
                </a:solidFill>
                <a:latin typeface="Calibri"/>
              </a:rPr>
              <a:t>HIT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5010912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A8C6E8"/>
                </a:solidFill>
                <a:latin typeface="Calibri"/>
              </a:rPr>
              <a:t>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285231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Hybrid + RRF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596127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7D9EF"/>
                </a:solidFill>
                <a:latin typeface="Calibri"/>
              </a:rPr>
              <a:t>Hybrid + reranker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285231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C7D9EF"/>
                </a:solidFill>
                <a:latin typeface="Calibri"/>
              </a:rPr>
              <a:t>100.0%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5285231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C7D9EF"/>
                </a:solidFill>
                <a:latin typeface="Calibri"/>
              </a:rPr>
              <a:t>12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596127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8C6E8"/>
                </a:solidFill>
                <a:latin typeface="Calibri"/>
              </a:rPr>
              <a:t>94.4%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5596127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8C6E8"/>
                </a:solidFill>
                <a:latin typeface="Calibri"/>
              </a:rPr>
              <a:t>3,194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925312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7D9EF"/>
                </a:solidFill>
                <a:latin typeface="Calibri"/>
              </a:rPr>
              <a:t>Higher quality AND 266x faster without it — so it stays off by default.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C6E93"/>
                </a:solidFill>
                <a:latin typeface="Calibri"/>
              </a:rPr>
              <a:t>EVA AI  •  Clinical Decision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C6E93"/>
                </a:solidFill>
                <a:latin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74882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Generation &amp; Structural Citations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freelances — it assembles, cites, and streams. It cannot answer without evidence in hand.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613916" y="2057400"/>
            <a:ext cx="566928" cy="566928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/home/claude/eva_pptx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8" y="21991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Assembler</a:t>
            </a:r>
            <a:endParaRPr lang="en-US" sz="1180" dirty="0"/>
          </a:p>
        </p:txBody>
      </p:sp>
      <p:sp>
        <p:nvSpPr>
          <p:cNvPr id="9" name="Text 6"/>
          <p:cNvSpPr/>
          <p:nvPr/>
        </p:nvSpPr>
        <p:spPr>
          <a:xfrm>
            <a:off x="713232" y="3090672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top-ranked chunks into a bounded evidence window with full metadata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64408" y="267004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447288" y="182880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12564" y="2057400"/>
            <a:ext cx="566928" cy="566928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/home/claude/eva_pptx/icons/fileTex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19913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3611880" y="3090672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system prompt: grounding + security constraints, last 4 turns of history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63056" y="267004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345936" y="182880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411212" y="2057400"/>
            <a:ext cx="566928" cy="566928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2" descr="/home/claude/eva_pptx/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4" y="219913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83096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OmniRoute LLM Client</a:t>
            </a:r>
            <a:endParaRPr lang="en-US" sz="1180" dirty="0"/>
          </a:p>
        </p:txBody>
      </p:sp>
      <p:sp>
        <p:nvSpPr>
          <p:cNvPr id="21" name="Text 16"/>
          <p:cNvSpPr/>
          <p:nvPr/>
        </p:nvSpPr>
        <p:spPr>
          <a:xfrm>
            <a:off x="6510528" y="3090672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eva-ai model — async call with tracing spans; the LLM round-trip is ~98% of end-to-end latency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61704" y="2670048"/>
            <a:ext cx="173736" cy="146304"/>
          </a:xfrm>
          <a:prstGeom prst="rightArrow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244584" y="1828800"/>
            <a:ext cx="2697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CF0"/>
            </a:solidFill>
            <a:prstDash val="solid"/>
          </a:ln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309860" y="2057400"/>
            <a:ext cx="566928" cy="566928"/>
          </a:xfrm>
          <a:prstGeom prst="ellipse">
            <a:avLst/>
          </a:prstGeom>
          <a:solidFill>
            <a:srgbClr val="2E5E99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eva_pptx/icons/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2" y="2199132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81744" y="2743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Extractor</a:t>
            </a:r>
            <a:endParaRPr lang="en-US" sz="1180" dirty="0"/>
          </a:p>
        </p:txBody>
      </p:sp>
      <p:sp>
        <p:nvSpPr>
          <p:cNvPr id="27" name="Text 21"/>
          <p:cNvSpPr/>
          <p:nvPr/>
        </p:nvSpPr>
        <p:spPr>
          <a:xfrm>
            <a:off x="9409176" y="3090672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[Source N] tags, validates against retrieved chunks, flags abstention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0D2440"/>
          </a:solidFill>
          <a:ln/>
          <a:effectLst>
            <a:outerShdw blurRad="127000" dist="38100" dir="5400000" algn="bl" rotWithShape="0">
              <a:srgbClr val="1B3A6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82296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GROUNDED RESPONSE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44805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 adults with suspected adrenal crisis, administer 100 mg hydrocortisone immediately via IV or IM injection [Source 1]. Do not delay treatment to perform diagnostic investigations.”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822960" y="56235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Streamed via POST /api/generate/stream — SSE events: meta → token → done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589520" y="4343400"/>
            <a:ext cx="3794760" cy="1600200"/>
          </a:xfrm>
          <a:prstGeom prst="roundRect">
            <a:avLst>
              <a:gd name="adj" fmla="val 5143"/>
            </a:avLst>
          </a:prstGeom>
          <a:solidFill>
            <a:srgbClr val="12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78181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 1]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818120" y="4773168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NG243 · Section 1.7</a:t>
            </a:r>
            <a:endParaRPr lang="en-US" sz="10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management of adrenal crisis</a:t>
            </a:r>
            <a:endParaRPr lang="en-US" sz="10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103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2810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In-Domain Hallucination Prevention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independent, fail-closed layers stand between a query and the LLM — verified by a 77-test stress suite (0 failures).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2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2130552"/>
            <a:ext cx="548640" cy="548640"/>
          </a:xfrm>
          <a:prstGeom prst="ellipse">
            <a:avLst/>
          </a:prstGeom>
          <a:solidFill>
            <a:srgbClr val="7BA4D0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/home/claude/eva_pptx/icons/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677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7889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Injection Guard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2461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deterministic regex patterns block override phrases, DAN/jailbreak personas, prompt-reveal attempts, and delimiter injection — &lt;1ms overhead.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8745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2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81144" y="2130552"/>
            <a:ext cx="548640" cy="548640"/>
          </a:xfrm>
          <a:prstGeom prst="ellipse">
            <a:avLst/>
          </a:prstGeom>
          <a:solidFill>
            <a:srgbClr val="7BA4D0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/home/claude/eva_pptx/icons/filt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2677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27889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Scope Classifier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81144" y="32461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classify_scope() rejects out-of-scope clinical domains (cardiology, asthma, diabetes) at threshold 0.68 before generation is attempted.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8745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229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357616" y="2130552"/>
            <a:ext cx="548640" cy="548640"/>
          </a:xfrm>
          <a:prstGeom prst="ellipse">
            <a:avLst/>
          </a:prstGeom>
          <a:solidFill>
            <a:srgbClr val="7BA4D0"/>
          </a:solidFill>
          <a:ln/>
          <a:effectLst>
            <a:outerShdw blurRad="101600" dist="38100" dir="5400000" algn="bl" rotWithShape="0">
              <a:srgbClr val="1B3A63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/home/claude/eva_pptx/icons/check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22677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278892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Floor Guard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57616" y="324612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should_abstain() refuses when every retrieved chunk sits below relevance_floor = 0.70 — weak evidence is shown, never silently used.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7B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GROUNDING PROMPT — 6 RULES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82803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31520" y="470001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Evidence-Only (no parametric memory)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297680" y="482803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480560" y="470001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Citations on every claim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046720" y="482803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229600" y="470001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Abstention when evidence absent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8640" y="533095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731520" y="520293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Precision — verbatim drug/dose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297680" y="533095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480560" y="520293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Enforcement — standard refusal msg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046720" y="5330952"/>
            <a:ext cx="64008" cy="64008"/>
          </a:xfrm>
          <a:prstGeom prst="ellipse">
            <a:avLst/>
          </a:prstGeom>
          <a:solidFill>
            <a:srgbClr val="7BA4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8229600" y="520293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Format — bullets vs prose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48640" y="5897880"/>
            <a:ext cx="11064240" cy="594360"/>
          </a:xfrm>
          <a:prstGeom prst="roundRect">
            <a:avLst>
              <a:gd name="adj" fmla="val 13846"/>
            </a:avLst>
          </a:prstGeom>
          <a:solidFill>
            <a:srgbClr val="2E5E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731520" y="58978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/ 77 grounding, scope &amp; citation tests passing in 2.9s  ·  23/23 known injection patterns detected  ·  11/11 benign queries never blocked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 AI  •  Clinical Decision Support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2E5E99"/>
                </a:solidFill>
                <a:latin typeface="Calibri"/>
              </a:rPr>
              <a:t>EVALUATION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0D2440"/>
                </a:solidFill>
                <a:latin typeface="Cambria"/>
              </a:rPr>
              <a:t>How We Measure Ourselves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0D2440"/>
                </a:solidFill>
                <a:latin typeface="Calibri"/>
              </a:rPr>
              <a:t>45 clinician-reviewed golden cases, three formal metrics, and five release gates that can block a release. The harness runs from the CLI and rewrites its own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2860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2E5E99"/>
                </a:solidFill>
                <a:latin typeface="Cambria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395727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60">
                <a:solidFill>
                  <a:srgbClr val="0D2440"/>
                </a:solidFill>
                <a:latin typeface="Calibri"/>
              </a:rPr>
              <a:t>RETRIEVAL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89503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golden_questions.yaml — each mapped to the NG243 section and
recommendation IDs that actually answer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031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2860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2E5E99"/>
                </a:solidFill>
                <a:latin typeface="Cambria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19" y="2395727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60">
                <a:solidFill>
                  <a:srgbClr val="0D2440"/>
                </a:solidFill>
                <a:latin typeface="Calibri"/>
              </a:rPr>
              <a:t>GENERATION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889503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golden_generation.yaml — expected drug, dose, route,
prohibited phrases and required refusals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1031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1" y="228600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2E5E99"/>
                </a:solidFill>
                <a:latin typeface="Cambria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2395727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60">
                <a:solidFill>
                  <a:srgbClr val="0D2440"/>
                </a:solidFill>
                <a:latin typeface="Calibri"/>
              </a:rPr>
              <a:t>CLINICAL DOMAINS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1" y="2889503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emergency, paediatric, pregnancy, sick-day, out-of-scope,
adversarial injection, bilingual Arabic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E5E99"/>
                </a:solidFill>
                <a:latin typeface="Calibri"/>
              </a:rPr>
              <a:t>THE THREE METRICS — FORMAL DEFINITIONS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1064240" cy="713232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261104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D2440"/>
                </a:solidFill>
                <a:latin typeface="Calibri"/>
              </a:rPr>
              <a:t>Retrieval Recall@5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233672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E5E99"/>
                </a:solidFill>
                <a:latin typeface="Courier New"/>
              </a:rPr>
              <a:t>Recall@K  =  (1/N) Σ  1[ ∃c ∈ TopK(q) : Section(c) ∈ Expected(q)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562856"/>
            <a:ext cx="7955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C6E93"/>
                </a:solidFill>
                <a:latin typeface="Calibri"/>
              </a:rPr>
              <a:t>A hit means at least one retrieved chunk carries a ground-truth NG243 section 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83480"/>
            <a:ext cx="11064240" cy="713232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5084064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D2440"/>
                </a:solidFill>
                <a:latin typeface="Calibri"/>
              </a:rPr>
              <a:t>Citation 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56632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E5E99"/>
                </a:solidFill>
                <a:latin typeface="Courier New"/>
              </a:rPr>
              <a:t>Precision  =  Σ VerifiedCitations(a)  /  Σ ExtractedCitations(a)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385816"/>
            <a:ext cx="7955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C6E93"/>
                </a:solidFill>
                <a:latin typeface="Calibri"/>
              </a:rPr>
              <a:t>Verified = correct structural format AND the section/page exists AND the claim is supported.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06440"/>
            <a:ext cx="11064240" cy="713232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5907024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D2440"/>
                </a:solidFill>
                <a:latin typeface="Calibri"/>
              </a:rPr>
              <a:t>Clinical Safety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879592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E5E99"/>
                </a:solidFill>
                <a:latin typeface="Courier New"/>
              </a:rPr>
              <a:t>Safety  =  (1/E) Σ  1[ drug ∧ exact dose ∧ allowed route ∧ ¬prohibited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6208776"/>
            <a:ext cx="7955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C6E93"/>
                </a:solidFill>
                <a:latin typeface="Calibri"/>
              </a:rPr>
              <a:t>All four conditions must hold at once — a single wrong unit fails the whole case.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C6E93"/>
                </a:solidFill>
                <a:latin typeface="Calibri"/>
              </a:rPr>
              <a:t>EVA AI  •  Clinical Decision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C6E93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20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7BA4D0"/>
                </a:solidFill>
                <a:latin typeface="Calibri"/>
              </a:rP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Release Gate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7D9EF"/>
                </a:solidFill>
                <a:latin typeface="Calibri"/>
              </a:rPr>
              <a:t>Every gate below is computed by scripts/run_clinical_evaluation.py against the live system. We publish the failures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01168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80">
                <a:solidFill>
                  <a:srgbClr val="7BA4D0"/>
                </a:solidFill>
                <a:latin typeface="Calibri"/>
              </a:rPr>
              <a:t>Release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01168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7BA4D0"/>
                </a:solidFill>
                <a:latin typeface="Calibri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01168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7BA4D0"/>
                </a:solidFill>
                <a:latin typeface="Calibri"/>
              </a:rPr>
              <a:t>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spc="80">
                <a:solidFill>
                  <a:srgbClr val="7BA4D0"/>
                </a:solidFill>
                <a:latin typeface="Calibri"/>
              </a:rPr>
              <a:t>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59152"/>
            <a:ext cx="11064240" cy="566928"/>
          </a:xfrm>
          <a:prstGeom prst="roundRect">
            <a:avLst/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359152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Medication &amp; Numerical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5915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7BA4D0"/>
                </a:solidFill>
                <a:latin typeface="Calibri"/>
              </a:rPr>
              <a:t>≥ 85.0%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59152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mbria"/>
              </a:rPr>
              <a:t>90.5%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505456"/>
            <a:ext cx="841248" cy="274320"/>
          </a:xfrm>
          <a:prstGeom prst="roundRect">
            <a:avLst/>
          </a:prstGeom>
          <a:solidFill>
            <a:srgbClr val="2E8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250545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80600" y="2359152"/>
            <a:ext cx="1676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5D9EE"/>
                </a:solidFill>
                <a:latin typeface="Calibri"/>
              </a:rPr>
              <a:t>no wrong drug, dose or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99232"/>
            <a:ext cx="11064240" cy="566928"/>
          </a:xfrm>
          <a:prstGeom prst="roundRect">
            <a:avLst/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Retrieval Recall@5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99923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7BA4D0"/>
                </a:solidFill>
                <a:latin typeface="Calibri"/>
              </a:rPr>
              <a:t>≥ 85.0%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99232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mbria"/>
              </a:rPr>
              <a:t>81.0%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145536"/>
            <a:ext cx="841248" cy="274320"/>
          </a:xfrm>
          <a:prstGeom prst="roundRect">
            <a:avLst/>
          </a:prstGeom>
          <a:solidFill>
            <a:srgbClr val="C2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314553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0600" y="2999232"/>
            <a:ext cx="1676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5D9EE"/>
                </a:solidFill>
                <a:latin typeface="Calibri"/>
              </a:rPr>
              <a:t>34-chunk corpus limits top-5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39312"/>
            <a:ext cx="11064240" cy="566928"/>
          </a:xfrm>
          <a:prstGeom prst="roundRect">
            <a:avLst/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3639312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Citation Validity &amp; Completeness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3931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7BA4D0"/>
                </a:solidFill>
                <a:latin typeface="Calibri"/>
              </a:rPr>
              <a:t>≥ 90.0%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639312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mbria"/>
              </a:rPr>
              <a:t>81.0%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3785616"/>
            <a:ext cx="841248" cy="274320"/>
          </a:xfrm>
          <a:prstGeom prst="roundRect">
            <a:avLst/>
          </a:prstGeom>
          <a:solidFill>
            <a:srgbClr val="C2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0" y="378561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0600" y="3639312"/>
            <a:ext cx="1676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5D9EE"/>
                </a:solidFill>
                <a:latin typeface="Calibri"/>
              </a:rPr>
              <a:t>tracks recall — refused turns cite nothing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79392"/>
            <a:ext cx="11064240" cy="566928"/>
          </a:xfrm>
          <a:prstGeom prst="roundRect">
            <a:avLst/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4279392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Correct Abstention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7939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7BA4D0"/>
                </a:solidFill>
                <a:latin typeface="Calibri"/>
              </a:rPr>
              <a:t>≥ 95.0%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279392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mbria"/>
              </a:rPr>
              <a:t>88.0%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4425696"/>
            <a:ext cx="841248" cy="274320"/>
          </a:xfrm>
          <a:prstGeom prst="roundRect">
            <a:avLst/>
          </a:prstGeom>
          <a:solidFill>
            <a:srgbClr val="C2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0" y="442569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0600" y="4279392"/>
            <a:ext cx="1676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5D9EE"/>
                </a:solidFill>
                <a:latin typeface="Calibri"/>
              </a:rPr>
              <a:t>over-refusal, not under-refusal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19472"/>
            <a:ext cx="11064240" cy="566928"/>
          </a:xfrm>
          <a:prstGeom prst="roundRect">
            <a:avLst/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4919472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Emergency Zero-Tolerance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91947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7BA4D0"/>
                </a:solidFill>
                <a:latin typeface="Calibri"/>
              </a:rPr>
              <a:t>0 errors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919472"/>
            <a:ext cx="1645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mbria"/>
              </a:rPr>
              <a:t>3 errors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5065776"/>
            <a:ext cx="841248" cy="274320"/>
          </a:xfrm>
          <a:prstGeom prst="roundRect">
            <a:avLst/>
          </a:prstGeom>
          <a:solidFill>
            <a:srgbClr val="C2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0" y="5065776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0600" y="4919472"/>
            <a:ext cx="1676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5D9EE"/>
                </a:solidFill>
                <a:latin typeface="Calibri"/>
              </a:rPr>
              <a:t>2 are refusals of valid questions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650992"/>
            <a:ext cx="11064240" cy="640080"/>
          </a:xfrm>
          <a:prstGeom prst="roundRect">
            <a:avLst/>
          </a:prstGeom>
          <a:solidFill>
            <a:srgbClr val="1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7" y="5650992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19" b="0">
                <a:solidFill>
                  <a:srgbClr val="FFFFFF"/>
                </a:solidFill>
                <a:latin typeface="Calibri"/>
              </a:rPr>
              <a:t>20 of 25 cases pass. Zero cases returned an incorrect drug, dose or route — all five failures were over-refusals or omissions, never a dangerous answer.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65099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Cambria"/>
              </a:rPr>
              <a:t>80.0%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5650992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BA4D0"/>
                </a:solidFill>
                <a:latin typeface="Calibri"/>
              </a:rPr>
              <a:t>OVERALL CASE
PASS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7BA4D0"/>
                </a:solidFill>
                <a:latin typeface="Calibri"/>
              </a:rPr>
              <a:t>EVA AI  •  Clinical Decision 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BA4D0"/>
                </a:solidFill>
                <a:latin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55517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2E5E99"/>
                </a:solidFill>
                <a:latin typeface="Calibri"/>
              </a:rP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0D2440"/>
                </a:solidFill>
                <a:latin typeface="Cambria"/>
              </a:rPr>
              <a:t>Where It Holds, and Where It Slips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0D2440"/>
                </a:solidFill>
                <a:latin typeface="Calibri"/>
              </a:rPr>
              <a:t>Pass rate per clinical domain. The weak columns are the honest ones — they tell us exactly what to fix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Emergency treatment &amp; crisis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18541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60520" y="2185416"/>
            <a:ext cx="6035040" cy="201168"/>
          </a:xfrm>
          <a:prstGeom prst="roundRect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60151" y="21488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D2440"/>
                </a:solidFill>
                <a:latin typeface="Calibri"/>
              </a:rPr>
              <a:t>3/3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Out-of-scope refusals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55117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0520" y="2551176"/>
            <a:ext cx="6035040" cy="201168"/>
          </a:xfrm>
          <a:prstGeom prst="roundRect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60151" y="25146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D2440"/>
                </a:solidFill>
                <a:latin typeface="Calibri"/>
              </a:rPr>
              <a:t>3/3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Pregnancy &amp; perioperative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91693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60520" y="2916936"/>
            <a:ext cx="6035040" cy="201168"/>
          </a:xfrm>
          <a:prstGeom prst="roundRect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60151" y="28803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D2440"/>
                </a:solidFill>
                <a:latin typeface="Calibri"/>
              </a:rPr>
              <a:t>3/3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Adversarial prompt injection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28269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60520" y="3282696"/>
            <a:ext cx="6035040" cy="201168"/>
          </a:xfrm>
          <a:prstGeom prst="roundRect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60151" y="32461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D2440"/>
                </a:solidFill>
                <a:latin typeface="Calibri"/>
              </a:rPr>
              <a:t>2/2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1879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Primary vs secondary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4845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60520" y="3648456"/>
            <a:ext cx="6035040" cy="201168"/>
          </a:xfrm>
          <a:prstGeom prst="roundRect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60151" y="361187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D2440"/>
                </a:solidFill>
                <a:latin typeface="Calibri"/>
              </a:rPr>
              <a:t>2/2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Sick-day rules &amp; stress dosing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014215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160520" y="4014215"/>
            <a:ext cx="6035040" cy="201168"/>
          </a:xfrm>
          <a:prstGeom prst="roundRect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60151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D2440"/>
                </a:solidFill>
                <a:latin typeface="Calibri"/>
              </a:rPr>
              <a:t>2/2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4340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Ambiguous inquiries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437997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60520" y="4379976"/>
            <a:ext cx="6035040" cy="201168"/>
          </a:xfrm>
          <a:prstGeom prst="roundRect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60151" y="43434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D2440"/>
                </a:solidFill>
                <a:latin typeface="Calibri"/>
              </a:rPr>
              <a:t>1/1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0916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Steroid withdrawal &amp; tapering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474573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160520" y="4745736"/>
            <a:ext cx="6035040" cy="201168"/>
          </a:xfrm>
          <a:prstGeom prst="roundRect">
            <a:avLst/>
          </a:prstGeom>
          <a:solidFill>
            <a:srgbClr val="2E5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60151" y="47091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D2440"/>
                </a:solidFill>
                <a:latin typeface="Calibri"/>
              </a:rPr>
              <a:t>1/1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7492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Dangerous units &amp; negation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511149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60520" y="5111496"/>
            <a:ext cx="4023359" cy="201168"/>
          </a:xfrm>
          <a:prstGeom prst="roundRect">
            <a:avLst/>
          </a:prstGeom>
          <a:solidFill>
            <a:srgbClr val="7BA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60151" y="50749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4C6E93"/>
                </a:solidFill>
                <a:latin typeface="Calibri"/>
              </a:rPr>
              <a:t>2/3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406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Paediatric vs adult dosing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547725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160520" y="5477256"/>
            <a:ext cx="3017520" cy="201168"/>
          </a:xfrm>
          <a:prstGeom prst="roundRect">
            <a:avLst/>
          </a:prstGeom>
          <a:solidFill>
            <a:srgbClr val="7BA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60151" y="54406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4C6E93"/>
                </a:solidFill>
                <a:latin typeface="Calibri"/>
              </a:rPr>
              <a:t>1/2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0644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Patient education &amp; safety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60520" y="584301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60151" y="58064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4C6E93"/>
                </a:solidFill>
                <a:latin typeface="Calibri"/>
              </a:rPr>
              <a:t>0/1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7220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0D2440"/>
                </a:solidFill>
                <a:latin typeface="Calibri"/>
              </a:rPr>
              <a:t>Bilingual Arabic inquiries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60520" y="6208776"/>
            <a:ext cx="6035040" cy="201168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60151" y="61722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4C6E93"/>
                </a:solidFill>
                <a:latin typeface="Calibri"/>
              </a:rPr>
              <a:t>0/2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C6E93"/>
                </a:solidFill>
                <a:latin typeface="Calibri"/>
              </a:rPr>
              <a:t>EVA AI  •  Clinical Decision Support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C6E9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2E5E99"/>
                </a:solidFill>
                <a:latin typeface="Calibr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0D2440"/>
                </a:solidFill>
                <a:latin typeface="Cambria"/>
              </a:rPr>
              <a:t>Where the Time Actually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0D2440"/>
                </a:solidFill>
                <a:latin typeface="Calibri"/>
              </a:rPr>
              <a:t>End-to-end latency measured across the full evaluation run — not a best-case number. The LLM call is ~98% of it; everything Eva AI controls costs under 100 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E5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 BREAKDOWN (TYPICAL IN-SCOPE QUERY)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548640" y="5394959"/>
            <a:ext cx="5577840" cy="363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Eva AI controls totals </a:t>
            </a:r>
            <a:r>
              <a:rPr lang="en-US" sz="1100" b="1" dirty="0">
                <a:solidFill>
                  <a:srgbClr val="0D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ms</a:t>
            </a:r>
            <a:r>
              <a:rPr lang="en-US" sz="110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under 2% of the total. The LLM round-trip is the remaining 98%, and the only part we do not control.</a:t>
            </a:r>
            <a:endParaRPr lang="en-US" sz="1100" dirty="0"/>
          </a:p>
        </p:txBody>
      </p:sp>
      <p:sp>
        <p:nvSpPr>
          <p:cNvPr id="31" name="Rounded Rectangle 30"/>
          <p:cNvSpPr/>
          <p:nvPr/>
        </p:nvSpPr>
        <p:spPr>
          <a:xfrm>
            <a:off x="6446520" y="2468880"/>
            <a:ext cx="51663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2670048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D2440"/>
                </a:solidFill>
                <a:latin typeface="Calibri"/>
              </a:rPr>
              <a:t>END-TO-END LATENCY 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127248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2E5E99"/>
                </a:solidFill>
                <a:latin typeface="Cambria"/>
              </a:rPr>
              <a:t>4.8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67588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spc="80">
                <a:solidFill>
                  <a:srgbClr val="4C6E93"/>
                </a:solidFill>
                <a:latin typeface="Calibri"/>
              </a:rPr>
              <a:t>P50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3127248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2E5E99"/>
                </a:solidFill>
                <a:latin typeface="Cambria"/>
              </a:rPr>
              <a:t>8.3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367588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spc="80">
                <a:solidFill>
                  <a:srgbClr val="4C6E93"/>
                </a:solidFill>
                <a:latin typeface="Calibri"/>
              </a:rPr>
              <a:t>P95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66376" y="3127248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2E5E99"/>
                </a:solidFill>
                <a:latin typeface="Cambria"/>
              </a:rPr>
              <a:t>35.1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6376" y="367588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spc="80">
                <a:solidFill>
                  <a:srgbClr val="4C6E93"/>
                </a:solidFill>
                <a:latin typeface="Calibri"/>
              </a:rPr>
              <a:t>MAX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096512"/>
            <a:ext cx="4617720" cy="363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all 25 evaluation cases, cold cache, including the LLM round-trip.</a:t>
            </a:r>
            <a:endParaRPr lang="en-US" sz="1100" dirty="0"/>
          </a:p>
        </p:txBody>
      </p:sp>
      <p:sp>
        <p:nvSpPr>
          <p:cNvPr id="40" name="Rounded Rectangle 39"/>
          <p:cNvSpPr/>
          <p:nvPr/>
        </p:nvSpPr>
        <p:spPr>
          <a:xfrm>
            <a:off x="6446520" y="5074920"/>
            <a:ext cx="5166360" cy="1234440"/>
          </a:xfrm>
          <a:prstGeom prst="roundRect">
            <a:avLst/>
          </a:prstGeom>
          <a:solidFill>
            <a:srgbClr val="0D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523951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7BA4D0"/>
                </a:solidFill>
                <a:latin typeface="Calibri"/>
              </a:rPr>
              <a:t>3-TIER CACHE — WARM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550408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C7D9EF"/>
                </a:solidFill>
                <a:latin typeface="Calibri"/>
              </a:rPr>
              <a:t>L1 embedding · L2 retrieval · L3 answer, TTL + LRU, auto-invalidated on corpus re-ingest.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5458968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900" b="1">
                <a:solidFill>
                  <a:srgbClr val="FFFFFF"/>
                </a:solidFill>
                <a:latin typeface="Cambria"/>
              </a:rPr>
              <a:t>4.8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5879592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19" b="0">
                <a:solidFill>
                  <a:srgbClr val="7BA4D0"/>
                </a:solidFill>
                <a:latin typeface="Calibri"/>
              </a:rPr>
              <a:t>REPEAT QUERY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C6E93"/>
                </a:solidFill>
                <a:latin typeface="Calibri"/>
              </a:rPr>
              <a:t>EVA AI  •  Clinical Decision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4C6E93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A56E32-0E96-4CE4-9F0B-7DBC8BFD6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263642"/>
              </p:ext>
            </p:extLst>
          </p:nvPr>
        </p:nvGraphicFramePr>
        <p:xfrm>
          <a:off x="546100" y="2768600"/>
          <a:ext cx="5588000" cy="24003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4542276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0253203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0942843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Pipeline stage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E5E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Latency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E5E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2E5E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15678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Injection guard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0.2 ms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&lt;0.1%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09417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Dosage guard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0.1 ms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&lt;0.1%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8847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Scope classifier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0.3 ms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&lt;0.1%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7039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Prompt build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0.1 ms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&lt;0.1%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38024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Citation parsing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0.9 ms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&lt;0.1%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8687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Graph expansion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4.8 ms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0.1%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82223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Hybrid retrieval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73.3 ms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>
                          <a:solidFill>
                            <a:srgbClr val="3A5A80"/>
                          </a:solidFill>
                          <a:latin typeface="Calibri"/>
                          <a:ea typeface="Calibri"/>
                          <a:cs typeface="Calibri"/>
                        </a:rPr>
                        <a:t>1.8%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09988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D2440"/>
                          </a:solidFill>
                          <a:latin typeface="Calibri"/>
                          <a:ea typeface="Calibri"/>
                          <a:cs typeface="Calibri"/>
                        </a:rPr>
                        <a:t>LLM round-trip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D2440"/>
                          </a:solidFill>
                          <a:latin typeface="Calibri"/>
                          <a:ea typeface="Calibri"/>
                          <a:cs typeface="Calibri"/>
                        </a:rPr>
                        <a:t>3,937 ms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D2440"/>
                          </a:solidFill>
                          <a:latin typeface="Calibri"/>
                          <a:ea typeface="Calibri"/>
                          <a:cs typeface="Calibri"/>
                        </a:rPr>
                        <a:t>98.0%</a:t>
                      </a:r>
                    </a:p>
                  </a:txBody>
                  <a:tcPr marT="7056" marB="705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924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567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2E5E99"/>
                </a:solidFill>
                <a:latin typeface="Calibr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0D2440"/>
                </a:solidFill>
                <a:latin typeface="Cambria"/>
              </a:rPr>
              <a:t>Why Not Just Use ChatGPT?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0D2440"/>
                </a:solidFill>
                <a:latin typeface="Calibri"/>
              </a:rPr>
              <a:t>The same clinical question, four ways. Only one of them can be audited by the clinician who has to sign off on the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60">
                <a:solidFill>
                  <a:srgbClr val="2E5E99"/>
                </a:solidFill>
                <a:latin typeface="Calibri"/>
              </a:rP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21031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C6E93"/>
                </a:solidFill>
                <a:latin typeface="Calibri"/>
              </a:rPr>
              <a:t>Reading NG243
by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3288" y="21031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C6E93"/>
                </a:solidFill>
                <a:latin typeface="Calibri"/>
              </a:rPr>
              <a:t>Generic LLM
(ChatGPT / Gemini)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4696" y="21031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C6E93"/>
                </a:solidFill>
                <a:latin typeface="Calibri"/>
              </a:rPr>
              <a:t>Naive RAG
(chunk + embed + chat)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66376" y="2011679"/>
            <a:ext cx="2231136" cy="3803904"/>
          </a:xfrm>
          <a:prstGeom prst="round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76104" y="21031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E5E99"/>
                </a:solidFill>
                <a:latin typeface="Calibri"/>
              </a:rPr>
              <a:t>Eva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70048"/>
            <a:ext cx="11064240" cy="438912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670048"/>
            <a:ext cx="278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D2440"/>
                </a:solidFill>
                <a:latin typeface="Calibri"/>
              </a:rPr>
              <a:t>Answer traced to a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7004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267004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267004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Sometimes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6104" y="267004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E5E99"/>
                </a:solidFill>
                <a:latin typeface="Calibri"/>
              </a:rPr>
              <a:t>Every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108960"/>
            <a:ext cx="278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D2440"/>
                </a:solidFill>
                <a:latin typeface="Calibri"/>
              </a:rPr>
              <a:t>Refuses when out of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0896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n/a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310896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310896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Rarely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310896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E5E99"/>
                </a:solidFill>
                <a:latin typeface="Calibri"/>
              </a:rPr>
              <a:t>3 fail-closed layers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47872"/>
            <a:ext cx="11064240" cy="438912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547872"/>
            <a:ext cx="278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D2440"/>
                </a:solidFill>
                <a:latin typeface="Calibri"/>
              </a:rPr>
              <a:t>Refuses on weak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547872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n/a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8" y="3547872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3547872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6104" y="3547872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E5E99"/>
                </a:solidFill>
                <a:latin typeface="Calibri"/>
              </a:rPr>
              <a:t>Relevance floor 0.70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986783"/>
            <a:ext cx="278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D2440"/>
                </a:solidFill>
                <a:latin typeface="Calibri"/>
              </a:rPr>
              <a:t>Recommendations kept atomic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986783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3288" y="3986783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n/a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4696" y="3986783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6104" y="3986783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E5E99"/>
                </a:solidFill>
                <a:latin typeface="Calibri"/>
              </a:rPr>
              <a:t>Never split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25696"/>
            <a:ext cx="11064240" cy="438912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" y="4425696"/>
            <a:ext cx="278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D2440"/>
                </a:solidFill>
                <a:latin typeface="Calibri"/>
              </a:rPr>
              <a:t>Prompt-injection defence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425696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n/a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3288" y="4425696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Partial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4696" y="4425696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76104" y="4425696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E5E99"/>
                </a:solidFill>
                <a:latin typeface="Calibri"/>
              </a:rPr>
              <a:t>~25 patterns, pre-retrieval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4864608"/>
            <a:ext cx="278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D2440"/>
                </a:solidFill>
                <a:latin typeface="Calibri"/>
              </a:rPr>
              <a:t>Measured against golden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486460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486460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54696" y="486460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Rarely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6104" y="486460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E5E99"/>
                </a:solidFill>
                <a:latin typeface="Calibri"/>
              </a:rPr>
              <a:t>45 cases, 5 gates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303520"/>
            <a:ext cx="11064240" cy="438912"/>
          </a:xfrm>
          <a:prstGeom prst="rect">
            <a:avLst/>
          </a:prstGeom>
          <a:solidFill>
            <a:srgbClr val="E7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59" y="5303520"/>
            <a:ext cx="2788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0D2440"/>
                </a:solidFill>
                <a:latin typeface="Calibri"/>
              </a:rPr>
              <a:t>Time to a cited answer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30352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Minutes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33288" y="530352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Seconds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4696" y="530352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C6E93"/>
                </a:solidFill>
                <a:latin typeface="Calibri"/>
              </a:rPr>
              <a:t>Seconds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76104" y="530352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E5E99"/>
                </a:solidFill>
                <a:latin typeface="Calibri"/>
              </a:rPr>
              <a:t>~5 s, cited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907024"/>
            <a:ext cx="11064240" cy="530352"/>
          </a:xfrm>
          <a:prstGeom prst="roundRect">
            <a:avLst/>
          </a:prstGeom>
          <a:solidFill>
            <a:srgbClr val="0D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1247" y="5907024"/>
            <a:ext cx="10515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The difference is not that Eva AI answers more — it is that Eva AI refuses, cites, and can be checked.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C6E93"/>
                </a:solidFill>
                <a:latin typeface="Calibri"/>
              </a:rPr>
              <a:t>EVA AI  •  Clinical Decision 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C6E93"/>
                </a:solidFill>
                <a:latin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5199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8C6E8"/>
                </a:solidFill>
                <a:latin typeface="Calibri"/>
              </a:rPr>
              <a:t>FAILURES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What Our Own Evaluation Caught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89888"/>
            <a:ext cx="11064240" cy="1517904"/>
          </a:xfrm>
          <a:prstGeom prst="roundRect">
            <a:avLst/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55448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80">
                <a:solidFill>
                  <a:srgbClr val="A8C6E8"/>
                </a:solidFill>
                <a:latin typeface="Calibri"/>
              </a:rPr>
              <a:t>SILENT DENSE-RETRIEVAL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65376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Our Chroma index carried a 2-record, dimension-4 stub collection left behind by CI. Because the local 384-dim embedder routes to that fallback collection, every dense query failed and silently degraded to BM25-only. The demo still answered fluently — nothing looked broken. Only the golden-set run exposed it: dropping the stub took the pass rate from 64.0% to 80.0% and out-of-scope refusal from 0% to 100%.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645920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spc="80">
                <a:solidFill>
                  <a:srgbClr val="4C6E93"/>
                </a:solidFill>
                <a:latin typeface="Calibri"/>
              </a:rPr>
              <a:t>CAUGHT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901952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mbria"/>
              </a:rPr>
              <a:t>the eval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30428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A8C6E8"/>
                </a:solidFill>
                <a:latin typeface="Calibri"/>
              </a:rPr>
              <a:t>not by the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80">
                <a:solidFill>
                  <a:srgbClr val="A8C6E8"/>
                </a:solidFill>
                <a:latin typeface="Calibri"/>
              </a:rPr>
              <a:t>OTHER FAILURES, ROOT-CAUSED AND FIXED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575303"/>
            <a:ext cx="64008" cy="64008"/>
          </a:xfrm>
          <a:prstGeom prst="ellipse">
            <a:avLst/>
          </a:prstGeom>
          <a:solidFill>
            <a:srgbClr val="A8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45643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Chroma dimension mismatch on Gemini 429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033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Dual-collection index + automatic local-embedder failover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4123944"/>
            <a:ext cx="64008" cy="64008"/>
          </a:xfrm>
          <a:prstGeom prst="ellipse">
            <a:avLst/>
          </a:prstGeom>
          <a:solidFill>
            <a:srgbClr val="A8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00507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Precision loss from fixed-size chunking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519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Section-aware atomic chunking — Precision@3 +47%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4672583"/>
            <a:ext cx="64008" cy="64008"/>
          </a:xfrm>
          <a:prstGeom prst="ellipse">
            <a:avLst/>
          </a:prstGeom>
          <a:solidFill>
            <a:srgbClr val="A8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5371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Next.js 15 SSR hydration crash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8006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localStorage reads deferred to a client mount effect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221223"/>
            <a:ext cx="64008" cy="64008"/>
          </a:xfrm>
          <a:prstGeom prst="ellipse">
            <a:avLst/>
          </a:prstGeom>
          <a:solidFill>
            <a:srgbClr val="A8C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5102351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4.4 s repeat-query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3492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3-tier cache (embedding / retrieval / answer) — 4.8 ms warm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272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80">
                <a:solidFill>
                  <a:srgbClr val="A8C6E8"/>
                </a:solidFill>
                <a:latin typeface="Calibri"/>
              </a:rPr>
              <a:t>OPEN — WHAT WE WOULD FIX NEXT</a:t>
            </a:r>
          </a:p>
        </p:txBody>
      </p:sp>
      <p:sp>
        <p:nvSpPr>
          <p:cNvPr id="24" name="Oval 23"/>
          <p:cNvSpPr/>
          <p:nvPr/>
        </p:nvSpPr>
        <p:spPr>
          <a:xfrm>
            <a:off x="6464807" y="3575303"/>
            <a:ext cx="64008" cy="64008"/>
          </a:xfrm>
          <a:prstGeom prst="ellipse">
            <a:avLst/>
          </a:prstGeom>
          <a:solidFill>
            <a:srgbClr val="C2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47688" y="345643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Scope classifier is English-biased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70332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Both Arabic cases were refused pre-retrieval in under 90 ms</a:t>
            </a:r>
          </a:p>
        </p:txBody>
      </p:sp>
      <p:sp>
        <p:nvSpPr>
          <p:cNvPr id="27" name="Oval 26"/>
          <p:cNvSpPr/>
          <p:nvPr/>
        </p:nvSpPr>
        <p:spPr>
          <a:xfrm>
            <a:off x="6464807" y="4123944"/>
            <a:ext cx="64008" cy="64008"/>
          </a:xfrm>
          <a:prstGeom prst="ellipse">
            <a:avLst/>
          </a:prstGeom>
          <a:solidFill>
            <a:srgbClr val="C2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7688" y="400507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Dosage guard over-refuses valid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425196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“Stop steroids during sepsis?” rejected in 12.8 ms before retrieval</a:t>
            </a:r>
          </a:p>
        </p:txBody>
      </p:sp>
      <p:sp>
        <p:nvSpPr>
          <p:cNvPr id="30" name="Oval 29"/>
          <p:cNvSpPr/>
          <p:nvPr/>
        </p:nvSpPr>
        <p:spPr>
          <a:xfrm>
            <a:off x="6464807" y="4672583"/>
            <a:ext cx="64008" cy="64008"/>
          </a:xfrm>
          <a:prstGeom prst="ellipse">
            <a:avLst/>
          </a:prstGeom>
          <a:solidFill>
            <a:srgbClr val="C2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47688" y="455371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Recall@5 below its 85%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48006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34 chunks from one guideline — corpus needs finer-grained coverage</a:t>
            </a:r>
          </a:p>
        </p:txBody>
      </p:sp>
      <p:sp>
        <p:nvSpPr>
          <p:cNvPr id="33" name="Oval 32"/>
          <p:cNvSpPr/>
          <p:nvPr/>
        </p:nvSpPr>
        <p:spPr>
          <a:xfrm>
            <a:off x="6464807" y="5221223"/>
            <a:ext cx="64008" cy="64008"/>
          </a:xfrm>
          <a:prstGeom prst="ellipse">
            <a:avLst/>
          </a:prstGeom>
          <a:solidFill>
            <a:srgbClr val="C2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47688" y="5102351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Unit tests write to the production index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534924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Isolate the Chroma path used by the test suite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742432"/>
            <a:ext cx="11064240" cy="548640"/>
          </a:xfrm>
          <a:prstGeom prst="roundRect">
            <a:avLst/>
          </a:prstGeom>
          <a:solidFill>
            <a:srgbClr val="1B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7" y="574243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A clinical assistant earns trust by showing what it got wrong. Every number in this deck is reproducible: python scripts/run_clinical_evaluation.py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8C6E8"/>
                </a:solidFill>
                <a:latin typeface="Calibri"/>
              </a:rPr>
              <a:t>EVA AI  •  Clinical Decision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A8C6E8"/>
                </a:solidFill>
                <a:latin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99177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AF784E7-F090-4E9C-B874-C7AED234A95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16a4dcb-967d-443a-a185-b614ce1a00c8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E7F0C10-D72B-4273-893C-4CD1701E8AAE}">
  <we:reference id="wa200010215" version="2.0.0.0" store="en-US" storeType="OMEX"/>
  <we:alternateReferences>
    <we:reference id="WA200010215" version="2.0.0.0" store="WA200010215" storeType="OMEX"/>
  </we:alternateReferences>
  <we:properties>
    <we:property name="bps.codex_control.document_id" value="&quot;5cbd9b71-a9af-44e4-a008-4c0b2e757fb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7FF4CA8E706E48993A541681700985" ma:contentTypeVersion="10" ma:contentTypeDescription="Create a new document." ma:contentTypeScope="" ma:versionID="5760f3c3b6a59cbb504dbf2aa32887a6">
  <xsd:schema xmlns:xsd="http://www.w3.org/2001/XMLSchema" xmlns:xs="http://www.w3.org/2001/XMLSchema" xmlns:p="http://schemas.microsoft.com/office/2006/metadata/properties" xmlns:ns3="20d2c42f-2cdc-4bf1-9c6d-1e3ea3264dd8" targetNamespace="http://schemas.microsoft.com/office/2006/metadata/properties" ma:root="true" ma:fieldsID="1c726e2be099fec27cf8e58207063da1" ns3:_="">
    <xsd:import namespace="20d2c42f-2cdc-4bf1-9c6d-1e3ea3264d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d2c42f-2cdc-4bf1-9c6d-1e3ea3264d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d2c42f-2cdc-4bf1-9c6d-1e3ea3264dd8" xsi:nil="true"/>
  </documentManagement>
</p:properties>
</file>

<file path=customXml/itemProps1.xml><?xml version="1.0" encoding="utf-8"?>
<ds:datastoreItem xmlns:ds="http://schemas.openxmlformats.org/officeDocument/2006/customXml" ds:itemID="{032869A0-E829-4DD0-9288-FCB44FA834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d2c42f-2cdc-4bf1-9c6d-1e3ea3264d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DFA970-73FC-43FA-9FCB-4AC491D45F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0C67D0-BC54-432B-BE52-6D06FB101013}">
  <ds:schemaRefs>
    <ds:schemaRef ds:uri="http://schemas.microsoft.com/office/2006/metadata/properties"/>
    <ds:schemaRef ds:uri="http://schemas.microsoft.com/office/infopath/2007/PartnerControls"/>
    <ds:schemaRef ds:uri="20d2c42f-2cdc-4bf1-9c6d-1e3ea3264dd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2591</Words>
  <Application>Microsoft Office PowerPoint</Application>
  <PresentationFormat>Widescreen</PresentationFormat>
  <Paragraphs>424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Abdusattar Abdusattar Abdelgawad</cp:lastModifiedBy>
  <cp:revision>2</cp:revision>
  <dcterms:created xsi:type="dcterms:W3CDTF">2026-08-20T06:57:03Z</dcterms:created>
  <dcterms:modified xsi:type="dcterms:W3CDTF">2026-08-20T08:50:30Z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0x0101008C7FF4CA8E706E48993A541681700985</vt:lpwstr>
  </property>
</Properties>
</file>