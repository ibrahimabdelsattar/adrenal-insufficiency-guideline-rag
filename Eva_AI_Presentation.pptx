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0"/>
  </p:notesMasterIdLst>
  <p:sldIdLst>
    <p:sldId id="284" r:id="rId5"/>
    <p:sldId id="258" r:id="rId6"/>
    <p:sldId id="283" r:id="rId7"/>
    <p:sldId id="260" r:id="rId8"/>
    <p:sldId id="296" r:id="rId9"/>
    <p:sldId id="299" r:id="rId10"/>
    <p:sldId id="298" r:id="rId11"/>
    <p:sldId id="300" r:id="rId12"/>
    <p:sldId id="267" r:id="rId13"/>
    <p:sldId id="288" r:id="rId14"/>
    <p:sldId id="294" r:id="rId15"/>
    <p:sldId id="271" r:id="rId16"/>
    <p:sldId id="282" r:id="rId17"/>
    <p:sldId id="286" r:id="rId18"/>
    <p:sldId id="295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54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4504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2E5E99">
              <a:alpha val="22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2194560" y="4206240"/>
            <a:ext cx="5486400" cy="5486400"/>
          </a:xfrm>
          <a:prstGeom prst="ellipse">
            <a:avLst/>
          </a:prstGeom>
          <a:solidFill>
            <a:srgbClr val="7BA4D0">
              <a:alpha val="16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 AI</a:t>
            </a:r>
            <a:endParaRPr lang="en-US" sz="6600" dirty="0"/>
          </a:p>
        </p:txBody>
      </p:sp>
      <p:sp>
        <p:nvSpPr>
          <p:cNvPr id="5" name="Shape 3"/>
          <p:cNvSpPr/>
          <p:nvPr/>
        </p:nvSpPr>
        <p:spPr>
          <a:xfrm>
            <a:off x="868680" y="2999232"/>
            <a:ext cx="3246120" cy="420624"/>
          </a:xfrm>
          <a:prstGeom prst="roundRect">
            <a:avLst>
              <a:gd name="adj" fmla="val 50000"/>
            </a:avLst>
          </a:prstGeom>
          <a:solidFill>
            <a:srgbClr val="12294B"/>
          </a:solidFill>
          <a:ln w="12700">
            <a:solidFill>
              <a:srgbClr val="7BA4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68680" y="2999232"/>
            <a:ext cx="3246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E7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DECISION SUPPORT · RAG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41248" y="3703320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7D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Evidence-grounded AI for adrenal insufficiency care, built on NICE Guideline NG243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42245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BA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traced to a page. Every claim backed by a citation. Nothing else.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41248" y="56235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41248" y="61264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7BA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TEST CASES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538728" y="56235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81.0%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538728" y="61264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7BA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RECALL@5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36208" y="56235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236208" y="61264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7BA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FAIL-CLOSED GUARDRAIL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933688" y="56235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933688" y="61264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7BA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RELEASE GATES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08415" y="38404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9F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NG243 · Hackathon Prototype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708215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7BA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Guidelines Are Trustworthy. Generic AI Isn’t.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2103120"/>
          </a:xfrm>
          <a:prstGeom prst="roundRect">
            <a:avLst>
              <a:gd name="adj" fmla="val 3913"/>
            </a:avLst>
          </a:prstGeom>
          <a:solidFill>
            <a:srgbClr val="1229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1984248"/>
            <a:ext cx="566928" cy="566928"/>
          </a:xfrm>
          <a:prstGeom prst="ellipse">
            <a:avLst/>
          </a:prstGeom>
          <a:solidFill>
            <a:srgbClr val="7BA4D0"/>
          </a:solidFill>
          <a:ln/>
          <a:effectLst>
            <a:outerShdw blurRad="101600" dist="38100" dir="5400000" algn="bl" rotWithShape="0">
              <a:srgbClr val="1B3A63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eva_pptx/icons/alert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2125980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965960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Guidelines are long &amp; dense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41248" y="2606040"/>
            <a:ext cx="47640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C7D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NG243 spans dozens of pages of numbered recommendations, sick-day rules, and emergency protocols — too slow to search under time pressure.</a:t>
            </a:r>
            <a:endParaRPr lang="en-US" sz="113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349240" cy="2103120"/>
          </a:xfrm>
          <a:prstGeom prst="roundRect">
            <a:avLst>
              <a:gd name="adj" fmla="val 3913"/>
            </a:avLst>
          </a:prstGeom>
          <a:solidFill>
            <a:srgbClr val="1229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556248" y="1984248"/>
            <a:ext cx="566928" cy="566928"/>
          </a:xfrm>
          <a:prstGeom prst="ellipse">
            <a:avLst/>
          </a:prstGeom>
          <a:solidFill>
            <a:srgbClr val="7BA4D0"/>
          </a:solidFill>
          <a:ln/>
          <a:effectLst>
            <a:outerShdw blurRad="101600" dist="38100" dir="5400000" algn="bl" rotWithShape="0">
              <a:srgbClr val="1B3A63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eva_pptx/icons/ban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7980" y="2125980"/>
            <a:ext cx="283464" cy="2834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69480" y="1965960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Generic LLMs hallucinate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556248" y="2606040"/>
            <a:ext cx="47640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C7D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Off-the-shelf chatbots answer confidently from parametric memory, with no guarantee an answer traces back to a real, current, registered guideline.</a:t>
            </a:r>
            <a:endParaRPr lang="en-US" sz="1130" dirty="0"/>
          </a:p>
        </p:txBody>
      </p:sp>
      <p:sp>
        <p:nvSpPr>
          <p:cNvPr id="14" name="Shape 10"/>
          <p:cNvSpPr/>
          <p:nvPr/>
        </p:nvSpPr>
        <p:spPr>
          <a:xfrm>
            <a:off x="548640" y="4023360"/>
            <a:ext cx="5349240" cy="2103120"/>
          </a:xfrm>
          <a:prstGeom prst="roundRect">
            <a:avLst>
              <a:gd name="adj" fmla="val 3913"/>
            </a:avLst>
          </a:prstGeom>
          <a:solidFill>
            <a:srgbClr val="1229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41248" y="4315968"/>
            <a:ext cx="566928" cy="566928"/>
          </a:xfrm>
          <a:prstGeom prst="ellipse">
            <a:avLst/>
          </a:prstGeom>
          <a:solidFill>
            <a:srgbClr val="7BA4D0"/>
          </a:solidFill>
          <a:ln/>
          <a:effectLst>
            <a:outerShdw blurRad="101600" dist="38100" dir="5400000" algn="bl" rotWithShape="0">
              <a:srgbClr val="1B3A63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eva_pptx/icons/xCircle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457700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54480" y="4297680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Wrong doses can be fatal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41248" y="4937760"/>
            <a:ext cx="47640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C7D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confused unit (100mg vs 100g) or a wrongly-negated instruction (“stop steroids” during sepsis) can precipitate a fatal adrenal crisis.</a:t>
            </a:r>
            <a:endParaRPr lang="en-US" sz="1130" dirty="0"/>
          </a:p>
        </p:txBody>
      </p:sp>
      <p:sp>
        <p:nvSpPr>
          <p:cNvPr id="19" name="Shape 14"/>
          <p:cNvSpPr/>
          <p:nvPr/>
        </p:nvSpPr>
        <p:spPr>
          <a:xfrm>
            <a:off x="6263640" y="4023360"/>
            <a:ext cx="5349240" cy="2103120"/>
          </a:xfrm>
          <a:prstGeom prst="roundRect">
            <a:avLst>
              <a:gd name="adj" fmla="val 3913"/>
            </a:avLst>
          </a:prstGeom>
          <a:solidFill>
            <a:srgbClr val="1229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556248" y="4315968"/>
            <a:ext cx="566928" cy="566928"/>
          </a:xfrm>
          <a:prstGeom prst="ellipse">
            <a:avLst/>
          </a:prstGeom>
          <a:solidFill>
            <a:srgbClr val="7BA4D0"/>
          </a:solidFill>
          <a:ln/>
          <a:effectLst>
            <a:outerShdw blurRad="101600" dist="38100" dir="5400000" algn="bl" rotWithShape="0">
              <a:srgbClr val="1B3A63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3" descr="/home/claude/eva_pptx/icons/cloc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7980" y="4457700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69480" y="4297680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time for manual lookup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6556248" y="4937760"/>
            <a:ext cx="47640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C7D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an adrenal crisis or sick-day decision, clinicians need a verified, page-cited answer in seconds — not a 60-page PDF search.</a:t>
            </a:r>
            <a:endParaRPr lang="en-US" sz="1130" dirty="0"/>
          </a:p>
        </p:txBody>
      </p:sp>
      <p:sp>
        <p:nvSpPr>
          <p:cNvPr id="24" name="Text 1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F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AI  •  Clinical Decision Support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D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First. Answer Second. Refuse Otherwise.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AI pairs a high-performance FastAPI backend with a Next.js 15 Soft-UI frontend around one non-negotiable idea: no generation path exists that can bypass retrieval. The LLM only ever paraphrases evidence it was just handed — it cannot answer from memory.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06040" cy="1005840"/>
          </a:xfrm>
          <a:prstGeom prst="roundRect">
            <a:avLst>
              <a:gd name="adj" fmla="val 8182"/>
            </a:avLst>
          </a:prstGeom>
          <a:solidFill>
            <a:srgbClr val="E7F0FA"/>
          </a:solidFill>
          <a:ln/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9808" y="2606040"/>
            <a:ext cx="548640" cy="548640"/>
          </a:xfrm>
          <a:prstGeom prst="ellipse">
            <a:avLst/>
          </a:prstGeom>
          <a:solidFill>
            <a:srgbClr val="2E5E99"/>
          </a:solidFill>
          <a:ln/>
          <a:effectLst>
            <a:outerShdw blurRad="101600" dist="38100" dir="5400000" algn="bl" rotWithShape="0">
              <a:srgbClr val="1B3A63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/home/claude/eva_pptx/icons/search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74320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37744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Evidence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182112" y="2807208"/>
            <a:ext cx="265176" cy="146304"/>
          </a:xfrm>
          <a:prstGeom prst="rightArrow">
            <a:avLst/>
          </a:prstGeom>
          <a:solidFill>
            <a:srgbClr val="7BA4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474720" y="2377440"/>
            <a:ext cx="2606040" cy="1005840"/>
          </a:xfrm>
          <a:prstGeom prst="roundRect">
            <a:avLst>
              <a:gd name="adj" fmla="val 8182"/>
            </a:avLst>
          </a:prstGeom>
          <a:solidFill>
            <a:srgbClr val="E7F0FA"/>
          </a:solidFill>
          <a:ln/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675888" y="2606040"/>
            <a:ext cx="548640" cy="548640"/>
          </a:xfrm>
          <a:prstGeom prst="ellipse">
            <a:avLst/>
          </a:prstGeom>
          <a:solidFill>
            <a:srgbClr val="2E5E99"/>
          </a:solidFill>
          <a:ln/>
          <a:effectLst>
            <a:outerShdw blurRad="101600" dist="38100" dir="5400000" algn="bl" rotWithShape="0">
              <a:srgbClr val="1B3A63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/home/claude/eva_pptx/icons/filt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3048" y="274320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43400" y="237744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&amp; Verify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08192" y="2807208"/>
            <a:ext cx="265176" cy="146304"/>
          </a:xfrm>
          <a:prstGeom prst="rightArrow">
            <a:avLst/>
          </a:prstGeom>
          <a:solidFill>
            <a:srgbClr val="7BA4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400800" y="2377440"/>
            <a:ext cx="2606040" cy="1005840"/>
          </a:xfrm>
          <a:prstGeom prst="roundRect">
            <a:avLst>
              <a:gd name="adj" fmla="val 8182"/>
            </a:avLst>
          </a:prstGeom>
          <a:solidFill>
            <a:srgbClr val="E7F0FA"/>
          </a:solidFill>
          <a:ln/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601968" y="2606040"/>
            <a:ext cx="548640" cy="548640"/>
          </a:xfrm>
          <a:prstGeom prst="ellipse">
            <a:avLst/>
          </a:prstGeom>
          <a:solidFill>
            <a:srgbClr val="2E5E99"/>
          </a:solidFill>
          <a:ln/>
          <a:effectLst>
            <a:outerShdw blurRad="101600" dist="38100" dir="5400000" algn="bl" rotWithShape="0">
              <a:srgbClr val="1B3A63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2" descr="/home/claude/eva_pptx/icons/messag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9128" y="274320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69480" y="237744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Answer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9034272" y="2807208"/>
            <a:ext cx="265176" cy="146304"/>
          </a:xfrm>
          <a:prstGeom prst="rightArrow">
            <a:avLst/>
          </a:prstGeom>
          <a:solidFill>
            <a:srgbClr val="7BA4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326880" y="2377440"/>
            <a:ext cx="2606040" cy="1005840"/>
          </a:xfrm>
          <a:prstGeom prst="roundRect">
            <a:avLst>
              <a:gd name="adj" fmla="val 8182"/>
            </a:avLst>
          </a:prstGeom>
          <a:solidFill>
            <a:srgbClr val="E7F0FA"/>
          </a:solidFill>
          <a:ln/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9528048" y="2606040"/>
            <a:ext cx="548640" cy="548640"/>
          </a:xfrm>
          <a:prstGeom prst="ellipse">
            <a:avLst/>
          </a:prstGeom>
          <a:solidFill>
            <a:srgbClr val="2E5E99"/>
          </a:solidFill>
          <a:ln/>
          <a:effectLst>
            <a:outerShdw blurRad="101600" dist="38100" dir="5400000" algn="bl" rotWithShape="0">
              <a:srgbClr val="1B3A63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2" name="Image 3" descr="/home/claude/eva_pptx/icons/checkCircl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5208" y="2743200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195560" y="237744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Every Claim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48640" y="370332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CONSTITUTION — SIX GUIDING PRINCIPLES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548640" y="4041648"/>
            <a:ext cx="365760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/>
          <p:nvPr/>
        </p:nvSpPr>
        <p:spPr>
          <a:xfrm>
            <a:off x="713232" y="416966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BA4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27" name="Text 21"/>
          <p:cNvSpPr/>
          <p:nvPr/>
        </p:nvSpPr>
        <p:spPr>
          <a:xfrm>
            <a:off x="713232" y="4480560"/>
            <a:ext cx="33284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Evidence-Grounded Answers Only</a:t>
            </a:r>
            <a:endParaRPr lang="en-US" sz="1130" dirty="0"/>
          </a:p>
        </p:txBody>
      </p:sp>
      <p:sp>
        <p:nvSpPr>
          <p:cNvPr id="28" name="Text 22"/>
          <p:cNvSpPr/>
          <p:nvPr/>
        </p:nvSpPr>
        <p:spPr>
          <a:xfrm>
            <a:off x="713232" y="4828032"/>
            <a:ext cx="33284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answer path can bypass retrieval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4370832" y="4041648"/>
            <a:ext cx="365760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4"/>
          <p:cNvSpPr/>
          <p:nvPr/>
        </p:nvSpPr>
        <p:spPr>
          <a:xfrm>
            <a:off x="4535424" y="416966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BA4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31" name="Text 25"/>
          <p:cNvSpPr/>
          <p:nvPr/>
        </p:nvSpPr>
        <p:spPr>
          <a:xfrm>
            <a:off x="4535424" y="4480560"/>
            <a:ext cx="33284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Metadata Is Structural</a:t>
            </a:r>
            <a:endParaRPr lang="en-US" sz="1130" dirty="0"/>
          </a:p>
        </p:txBody>
      </p:sp>
      <p:sp>
        <p:nvSpPr>
          <p:cNvPr id="32" name="Text 26"/>
          <p:cNvSpPr/>
          <p:nvPr/>
        </p:nvSpPr>
        <p:spPr>
          <a:xfrm>
            <a:off x="4535424" y="4828032"/>
            <a:ext cx="33284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Document, page, section &amp; chunk id on every vector entry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8193024" y="4041648"/>
            <a:ext cx="365760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Text 28"/>
          <p:cNvSpPr/>
          <p:nvPr/>
        </p:nvSpPr>
        <p:spPr>
          <a:xfrm>
            <a:off x="8357616" y="416966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BA4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35" name="Text 29"/>
          <p:cNvSpPr/>
          <p:nvPr/>
        </p:nvSpPr>
        <p:spPr>
          <a:xfrm>
            <a:off x="8357616" y="4480560"/>
            <a:ext cx="33284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Legitimacy &amp; Provenance</a:t>
            </a:r>
            <a:endParaRPr lang="en-US" sz="1130" dirty="0"/>
          </a:p>
        </p:txBody>
      </p:sp>
      <p:sp>
        <p:nvSpPr>
          <p:cNvPr id="36" name="Text 30"/>
          <p:cNvSpPr/>
          <p:nvPr/>
        </p:nvSpPr>
        <p:spPr>
          <a:xfrm>
            <a:off x="8357616" y="4828032"/>
            <a:ext cx="33284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corpus PDF registered with credibility justification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548640" y="5376672"/>
            <a:ext cx="365760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2"/>
          <p:cNvSpPr/>
          <p:nvPr/>
        </p:nvSpPr>
        <p:spPr>
          <a:xfrm>
            <a:off x="713232" y="550468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BA4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9" name="Text 33"/>
          <p:cNvSpPr/>
          <p:nvPr/>
        </p:nvSpPr>
        <p:spPr>
          <a:xfrm>
            <a:off x="713232" y="5815584"/>
            <a:ext cx="33284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Scope Discipline</a:t>
            </a:r>
            <a:endParaRPr lang="en-US" sz="1130" dirty="0"/>
          </a:p>
        </p:txBody>
      </p:sp>
      <p:sp>
        <p:nvSpPr>
          <p:cNvPr id="40" name="Text 34"/>
          <p:cNvSpPr/>
          <p:nvPr/>
        </p:nvSpPr>
        <p:spPr>
          <a:xfrm>
            <a:off x="713232" y="6163056"/>
            <a:ext cx="33284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strictly to adrenal insufficiency (NG243)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4370832" y="5376672"/>
            <a:ext cx="365760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36"/>
          <p:cNvSpPr/>
          <p:nvPr/>
        </p:nvSpPr>
        <p:spPr>
          <a:xfrm>
            <a:off x="4535424" y="550468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BA4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43" name="Text 37"/>
          <p:cNvSpPr/>
          <p:nvPr/>
        </p:nvSpPr>
        <p:spPr>
          <a:xfrm>
            <a:off x="4535424" y="5815584"/>
            <a:ext cx="33284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Delivery</a:t>
            </a:r>
            <a:endParaRPr lang="en-US" sz="1130" dirty="0"/>
          </a:p>
        </p:txBody>
      </p:sp>
      <p:sp>
        <p:nvSpPr>
          <p:cNvPr id="44" name="Text 38"/>
          <p:cNvSpPr/>
          <p:nvPr/>
        </p:nvSpPr>
        <p:spPr>
          <a:xfrm>
            <a:off x="4535424" y="6163056"/>
            <a:ext cx="33284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verified &amp; benchmarked before generation shipped</a:t>
            </a:r>
            <a:endParaRPr lang="en-US" sz="1000" dirty="0"/>
          </a:p>
        </p:txBody>
      </p:sp>
      <p:sp>
        <p:nvSpPr>
          <p:cNvPr id="45" name="Shape 39"/>
          <p:cNvSpPr/>
          <p:nvPr/>
        </p:nvSpPr>
        <p:spPr>
          <a:xfrm>
            <a:off x="8193024" y="5376672"/>
            <a:ext cx="365760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Text 40"/>
          <p:cNvSpPr/>
          <p:nvPr/>
        </p:nvSpPr>
        <p:spPr>
          <a:xfrm>
            <a:off x="8357616" y="550468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BA4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47" name="Text 41"/>
          <p:cNvSpPr/>
          <p:nvPr/>
        </p:nvSpPr>
        <p:spPr>
          <a:xfrm>
            <a:off x="8357616" y="5815584"/>
            <a:ext cx="33284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Verification Over Confidence</a:t>
            </a:r>
            <a:endParaRPr lang="en-US" sz="1130" dirty="0"/>
          </a:p>
        </p:txBody>
      </p:sp>
      <p:sp>
        <p:nvSpPr>
          <p:cNvPr id="48" name="Text 42"/>
          <p:cNvSpPr/>
          <p:nvPr/>
        </p:nvSpPr>
        <p:spPr>
          <a:xfrm>
            <a:off x="8357616" y="6163056"/>
            <a:ext cx="33284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evidence is shown, never hidden</a:t>
            </a:r>
            <a:endParaRPr lang="en-US" sz="1000" dirty="0"/>
          </a:p>
        </p:txBody>
      </p:sp>
      <p:sp>
        <p:nvSpPr>
          <p:cNvPr id="49" name="Text 4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AI  •  Clinical Decision Support</a:t>
            </a:r>
            <a:endParaRPr lang="en-US" sz="900" dirty="0"/>
          </a:p>
        </p:txBody>
      </p:sp>
      <p:sp>
        <p:nvSpPr>
          <p:cNvPr id="50" name="Text 4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368389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D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 &amp; Component Topology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runs two processes (FastAPI :8000 + Next.js :3000); production serves the static frontend export from a single FastAPI process.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611880" cy="4160520"/>
          </a:xfrm>
          <a:prstGeom prst="roundRect">
            <a:avLst>
              <a:gd name="adj" fmla="val 2278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04672" y="2039112"/>
            <a:ext cx="502920" cy="502920"/>
          </a:xfrm>
          <a:prstGeom prst="ellipse">
            <a:avLst/>
          </a:prstGeom>
          <a:solidFill>
            <a:srgbClr val="2E5E99"/>
          </a:solidFill>
          <a:ln/>
          <a:effectLst>
            <a:outerShdw blurRad="101600" dist="38100" dir="5400000" algn="bl" rotWithShape="0">
              <a:srgbClr val="1B3A63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/home/claude/eva_pptx/icons/monito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373" y="2159813"/>
            <a:ext cx="261518" cy="26151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03911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417320" y="231343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 / React 19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22960" y="2862072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987552" y="2734056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&amp; Answer Inspector (page.tsx)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2960" y="3483864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87552" y="3355848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ChatView — SSE streaming chat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22960" y="4105656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987552" y="3977640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SearchBox — Retrieve / Generate toggle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2960" y="4727448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987552" y="4599432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AnswerCard &amp; ChunkCard components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22960" y="5349240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987552" y="5221224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EN / عربي Toggle + Theme Toggle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178808" y="3790188"/>
            <a:ext cx="146304" cy="146304"/>
          </a:xfrm>
          <a:prstGeom prst="rightArrow">
            <a:avLst/>
          </a:prstGeom>
          <a:solidFill>
            <a:srgbClr val="7BA4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4325112" y="1783080"/>
            <a:ext cx="3611880" cy="4160520"/>
          </a:xfrm>
          <a:prstGeom prst="roundRect">
            <a:avLst>
              <a:gd name="adj" fmla="val 2278"/>
            </a:avLst>
          </a:prstGeom>
          <a:solidFill>
            <a:srgbClr val="0D2440"/>
          </a:solidFill>
          <a:ln/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4581144" y="2039112"/>
            <a:ext cx="502920" cy="502920"/>
          </a:xfrm>
          <a:prstGeom prst="ellipse">
            <a:avLst/>
          </a:prstGeom>
          <a:solidFill>
            <a:srgbClr val="7BA4D0"/>
          </a:solidFill>
          <a:ln/>
          <a:effectLst>
            <a:outerShdw blurRad="101600" dist="38100" dir="5400000" algn="bl" rotWithShape="0">
              <a:srgbClr val="1B3A63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3" name="Image 1" descr="/home/claude/eva_pptx/icons/server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1845" y="2159813"/>
            <a:ext cx="261518" cy="261518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193792" y="203911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50" dirty="0"/>
          </a:p>
        </p:txBody>
      </p:sp>
      <p:sp>
        <p:nvSpPr>
          <p:cNvPr id="25" name="Text 21"/>
          <p:cNvSpPr/>
          <p:nvPr/>
        </p:nvSpPr>
        <p:spPr>
          <a:xfrm>
            <a:off x="5193792" y="231343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BA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Monolith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599432" y="2862072"/>
            <a:ext cx="64008" cy="64008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3"/>
          <p:cNvSpPr/>
          <p:nvPr/>
        </p:nvSpPr>
        <p:spPr>
          <a:xfrm>
            <a:off x="4764024" y="2734056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api/search.py — Search &amp; Health API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599432" y="3483864"/>
            <a:ext cx="64008" cy="64008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4764024" y="3355848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api/generate.py — Generation &amp; SSE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599432" y="4105656"/>
            <a:ext cx="64008" cy="64008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4764024" y="3977640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· Retrieval · Generation engines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599432" y="4727448"/>
            <a:ext cx="64008" cy="64008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29"/>
          <p:cNvSpPr/>
          <p:nvPr/>
        </p:nvSpPr>
        <p:spPr>
          <a:xfrm>
            <a:off x="4764024" y="4599432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monitoring/sentry.py — PHI-safe tracing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599432" y="5349240"/>
            <a:ext cx="64008" cy="64008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1"/>
          <p:cNvSpPr/>
          <p:nvPr/>
        </p:nvSpPr>
        <p:spPr>
          <a:xfrm>
            <a:off x="4764024" y="5221224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cli.py — ingest / query / eval / benchmark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7955280" y="3790188"/>
            <a:ext cx="146304" cy="146304"/>
          </a:xfrm>
          <a:prstGeom prst="rightArrow">
            <a:avLst/>
          </a:prstGeom>
          <a:solidFill>
            <a:srgbClr val="7BA4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3"/>
          <p:cNvSpPr/>
          <p:nvPr/>
        </p:nvSpPr>
        <p:spPr>
          <a:xfrm>
            <a:off x="8101584" y="1783080"/>
            <a:ext cx="3611880" cy="4160520"/>
          </a:xfrm>
          <a:prstGeom prst="roundRect">
            <a:avLst>
              <a:gd name="adj" fmla="val 2278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4"/>
          <p:cNvSpPr/>
          <p:nvPr/>
        </p:nvSpPr>
        <p:spPr>
          <a:xfrm>
            <a:off x="8357616" y="2039112"/>
            <a:ext cx="502920" cy="502920"/>
          </a:xfrm>
          <a:prstGeom prst="ellipse">
            <a:avLst/>
          </a:prstGeom>
          <a:solidFill>
            <a:srgbClr val="2E5E99"/>
          </a:solidFill>
          <a:ln/>
          <a:effectLst>
            <a:outerShdw blurRad="101600" dist="38100" dir="5400000" algn="bl" rotWithShape="0">
              <a:srgbClr val="1B3A63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9" name="Image 2" descr="/home/claude/eva_pptx/icons/databas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8317" y="2159813"/>
            <a:ext cx="261518" cy="261518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8970264" y="203911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350" dirty="0"/>
          </a:p>
        </p:txBody>
      </p:sp>
      <p:sp>
        <p:nvSpPr>
          <p:cNvPr id="41" name="Text 36"/>
          <p:cNvSpPr/>
          <p:nvPr/>
        </p:nvSpPr>
        <p:spPr>
          <a:xfrm>
            <a:off x="8970264" y="231343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Data Layer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8375904" y="2862072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8540496" y="2734056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vector store (data/index/)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375904" y="3483864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0"/>
          <p:cNvSpPr/>
          <p:nvPr/>
        </p:nvSpPr>
        <p:spPr>
          <a:xfrm>
            <a:off x="8540496" y="3355848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manifest.json — self-describing index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8375904" y="4105656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2"/>
          <p:cNvSpPr/>
          <p:nvPr/>
        </p:nvSpPr>
        <p:spPr>
          <a:xfrm>
            <a:off x="8540496" y="3977640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sources.yaml — provenance registry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8375904" y="4727448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4"/>
          <p:cNvSpPr/>
          <p:nvPr/>
        </p:nvSpPr>
        <p:spPr>
          <a:xfrm>
            <a:off x="8540496" y="4599432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data/corpus/ — registered NG243 PDFs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375904" y="5349240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6"/>
          <p:cNvSpPr/>
          <p:nvPr/>
        </p:nvSpPr>
        <p:spPr>
          <a:xfrm>
            <a:off x="8540496" y="5221224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OmniRoute / OpenRouter Gateway API</a:t>
            </a:r>
            <a:endParaRPr lang="en-US" sz="1000" dirty="0"/>
          </a:p>
        </p:txBody>
      </p:sp>
      <p:sp>
        <p:nvSpPr>
          <p:cNvPr id="52" name="Text 4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AI  •  Clinical Decision Support</a:t>
            </a:r>
            <a:endParaRPr lang="en-US" sz="900" dirty="0"/>
          </a:p>
        </p:txBody>
      </p:sp>
      <p:sp>
        <p:nvSpPr>
          <p:cNvPr id="53" name="Text 4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INGESTION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D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Clinical PDF to Citation-Ready Vector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Multi-page NICE guideline PDFs become section-aware, atomic, citation-ready chunks without losing clinical context.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697480" cy="3977640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2E5E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2697480" cy="228600"/>
          </a:xfrm>
          <a:prstGeom prst="rect">
            <a:avLst/>
          </a:prstGeom>
          <a:solidFill>
            <a:srgbClr val="2E5E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568196" y="2487168"/>
            <a:ext cx="658368" cy="658368"/>
          </a:xfrm>
          <a:prstGeom prst="ellipse">
            <a:avLst/>
          </a:prstGeom>
          <a:solidFill>
            <a:srgbClr val="E7F0FA"/>
          </a:solidFill>
          <a:ln/>
          <a:effectLst>
            <a:outerShdw blurRad="101600" dist="38100" dir="5400000" algn="bl" rotWithShape="0">
              <a:srgbClr val="1B3A63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" name="Image 0" descr="/home/claude/eva_pptx/icons/checkShield_sapphi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2788" y="2651760"/>
            <a:ext cx="329184" cy="32918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327355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D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&amp; Extraction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31520" y="3950208"/>
            <a:ext cx="54864" cy="54864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788924" y="3822192"/>
            <a:ext cx="239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registry check vs sources.yaml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31520" y="4535424"/>
            <a:ext cx="54864" cy="54864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788924" y="4407408"/>
            <a:ext cx="239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span extraction (font, weight, page #)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264408" y="3744468"/>
            <a:ext cx="173736" cy="146304"/>
          </a:xfrm>
          <a:prstGeom prst="rightArrow">
            <a:avLst/>
          </a:prstGeom>
          <a:solidFill>
            <a:srgbClr val="7BA4D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3447288" y="1828800"/>
            <a:ext cx="2697480" cy="3977640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3447288" y="18288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2E5E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3447288" y="2057400"/>
            <a:ext cx="2697480" cy="228600"/>
          </a:xfrm>
          <a:prstGeom prst="rect">
            <a:avLst/>
          </a:prstGeom>
          <a:solidFill>
            <a:srgbClr val="2E5E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3630168" y="18288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466844" y="2487168"/>
            <a:ext cx="658368" cy="658368"/>
          </a:xfrm>
          <a:prstGeom prst="ellipse">
            <a:avLst/>
          </a:prstGeom>
          <a:solidFill>
            <a:srgbClr val="E7F0FA"/>
          </a:solidFill>
          <a:ln/>
          <a:effectLst>
            <a:outerShdw blurRad="101600" dist="38100" dir="5400000" algn="bl" rotWithShape="0">
              <a:srgbClr val="1B3A63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1" descr="/home/claude/eva_pptx/icons/scissors_sapphi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1436" y="2651760"/>
            <a:ext cx="329184" cy="329184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584448" y="327355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D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 &amp; Structure</a:t>
            </a:r>
            <a:endParaRPr lang="en-US" sz="1350" dirty="0"/>
          </a:p>
        </p:txBody>
      </p:sp>
      <p:sp>
        <p:nvSpPr>
          <p:cNvPr id="24" name="Shape 20"/>
          <p:cNvSpPr/>
          <p:nvPr/>
        </p:nvSpPr>
        <p:spPr>
          <a:xfrm>
            <a:off x="3630168" y="3950208"/>
            <a:ext cx="54864" cy="54864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1"/>
          <p:cNvSpPr/>
          <p:nvPr/>
        </p:nvSpPr>
        <p:spPr>
          <a:xfrm>
            <a:off x="3687572" y="3822192"/>
            <a:ext cx="239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&gt;60% boilerplate / footer removal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630168" y="4535424"/>
            <a:ext cx="54864" cy="54864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3"/>
          <p:cNvSpPr/>
          <p:nvPr/>
        </p:nvSpPr>
        <p:spPr>
          <a:xfrm>
            <a:off x="3687572" y="4407408"/>
            <a:ext cx="239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Glyph &amp; hyphenation repair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3630168" y="5120640"/>
            <a:ext cx="54864" cy="54864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3687572" y="4992624"/>
            <a:ext cx="239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hierarchy detection (1.1 / 1.1.1)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6163056" y="3744468"/>
            <a:ext cx="173736" cy="146304"/>
          </a:xfrm>
          <a:prstGeom prst="rightArrow">
            <a:avLst/>
          </a:prstGeom>
          <a:solidFill>
            <a:srgbClr val="7BA4D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6345936" y="1828800"/>
            <a:ext cx="2697480" cy="3977640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Shape 28"/>
          <p:cNvSpPr/>
          <p:nvPr/>
        </p:nvSpPr>
        <p:spPr>
          <a:xfrm>
            <a:off x="6345936" y="18288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2E5E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29"/>
          <p:cNvSpPr/>
          <p:nvPr/>
        </p:nvSpPr>
        <p:spPr>
          <a:xfrm>
            <a:off x="6345936" y="2057400"/>
            <a:ext cx="2697480" cy="228600"/>
          </a:xfrm>
          <a:prstGeom prst="rect">
            <a:avLst/>
          </a:prstGeom>
          <a:solidFill>
            <a:srgbClr val="2E5E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0"/>
          <p:cNvSpPr/>
          <p:nvPr/>
        </p:nvSpPr>
        <p:spPr>
          <a:xfrm>
            <a:off x="6528816" y="18288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7365492" y="2487168"/>
            <a:ext cx="658368" cy="658368"/>
          </a:xfrm>
          <a:prstGeom prst="ellipse">
            <a:avLst/>
          </a:prstGeom>
          <a:solidFill>
            <a:srgbClr val="E7F0FA"/>
          </a:solidFill>
          <a:ln/>
          <a:effectLst>
            <a:outerShdw blurRad="101600" dist="38100" dir="5400000" algn="bl" rotWithShape="0">
              <a:srgbClr val="1B3A63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6" name="Image 2" descr="/home/claude/eva_pptx/icons/layers_sapphi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0084" y="2651760"/>
            <a:ext cx="329184" cy="329184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6483096" y="327355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D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Atomic Chunking</a:t>
            </a:r>
            <a:endParaRPr lang="en-US" sz="1350" dirty="0"/>
          </a:p>
        </p:txBody>
      </p:sp>
      <p:sp>
        <p:nvSpPr>
          <p:cNvPr id="38" name="Shape 33"/>
          <p:cNvSpPr/>
          <p:nvPr/>
        </p:nvSpPr>
        <p:spPr>
          <a:xfrm>
            <a:off x="6528816" y="3950208"/>
            <a:ext cx="54864" cy="54864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4"/>
          <p:cNvSpPr/>
          <p:nvPr/>
        </p:nvSpPr>
        <p:spPr>
          <a:xfrm>
            <a:off x="6586220" y="3822192"/>
            <a:ext cx="239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recommendations never split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6528816" y="4535424"/>
            <a:ext cx="54864" cy="54864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Text 36"/>
          <p:cNvSpPr/>
          <p:nvPr/>
        </p:nvSpPr>
        <p:spPr>
          <a:xfrm>
            <a:off x="6586220" y="4407408"/>
            <a:ext cx="239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Tiktoken budget packing (400–800 tok)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6528816" y="5120640"/>
            <a:ext cx="54864" cy="54864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38"/>
          <p:cNvSpPr/>
          <p:nvPr/>
        </p:nvSpPr>
        <p:spPr>
          <a:xfrm>
            <a:off x="6586220" y="4992624"/>
            <a:ext cx="239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Oversized chunks flagged, kept whole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9061704" y="3744468"/>
            <a:ext cx="173736" cy="146304"/>
          </a:xfrm>
          <a:prstGeom prst="rightArrow">
            <a:avLst/>
          </a:prstGeom>
          <a:solidFill>
            <a:srgbClr val="7BA4D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Shape 40"/>
          <p:cNvSpPr/>
          <p:nvPr/>
        </p:nvSpPr>
        <p:spPr>
          <a:xfrm>
            <a:off x="9244584" y="1828800"/>
            <a:ext cx="2697480" cy="3977640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6" name="Shape 41"/>
          <p:cNvSpPr/>
          <p:nvPr/>
        </p:nvSpPr>
        <p:spPr>
          <a:xfrm>
            <a:off x="9244584" y="18288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2E5E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7" name="Shape 42"/>
          <p:cNvSpPr/>
          <p:nvPr/>
        </p:nvSpPr>
        <p:spPr>
          <a:xfrm>
            <a:off x="9244584" y="2057400"/>
            <a:ext cx="2697480" cy="228600"/>
          </a:xfrm>
          <a:prstGeom prst="rect">
            <a:avLst/>
          </a:prstGeom>
          <a:solidFill>
            <a:srgbClr val="2E5E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3"/>
          <p:cNvSpPr/>
          <p:nvPr/>
        </p:nvSpPr>
        <p:spPr>
          <a:xfrm>
            <a:off x="9427464" y="18288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10264140" y="2487168"/>
            <a:ext cx="658368" cy="658368"/>
          </a:xfrm>
          <a:prstGeom prst="ellipse">
            <a:avLst/>
          </a:prstGeom>
          <a:solidFill>
            <a:srgbClr val="E7F0FA"/>
          </a:solidFill>
          <a:ln/>
          <a:effectLst>
            <a:outerShdw blurRad="101600" dist="38100" dir="5400000" algn="bl" rotWithShape="0">
              <a:srgbClr val="1B3A63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0" name="Image 3" descr="/home/claude/eva_pptx/icons/database_sapphi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8732" y="2651760"/>
            <a:ext cx="329184" cy="329184"/>
          </a:xfrm>
          <a:prstGeom prst="rect">
            <a:avLst/>
          </a:prstGeom>
        </p:spPr>
      </p:pic>
      <p:sp>
        <p:nvSpPr>
          <p:cNvPr id="51" name="Text 45"/>
          <p:cNvSpPr/>
          <p:nvPr/>
        </p:nvSpPr>
        <p:spPr>
          <a:xfrm>
            <a:off x="9381744" y="327355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D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Embedding &amp; Indexing</a:t>
            </a:r>
            <a:endParaRPr lang="en-US" sz="1350" dirty="0"/>
          </a:p>
        </p:txBody>
      </p:sp>
      <p:sp>
        <p:nvSpPr>
          <p:cNvPr id="52" name="Shape 46"/>
          <p:cNvSpPr/>
          <p:nvPr/>
        </p:nvSpPr>
        <p:spPr>
          <a:xfrm>
            <a:off x="9427464" y="3950208"/>
            <a:ext cx="54864" cy="54864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Text 47"/>
          <p:cNvSpPr/>
          <p:nvPr/>
        </p:nvSpPr>
        <p:spPr>
          <a:xfrm>
            <a:off x="9484868" y="3822192"/>
            <a:ext cx="239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3072-dim Gemini embeddings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9427464" y="4535424"/>
            <a:ext cx="54864" cy="54864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Text 49"/>
          <p:cNvSpPr/>
          <p:nvPr/>
        </p:nvSpPr>
        <p:spPr>
          <a:xfrm>
            <a:off x="9484868" y="4407408"/>
            <a:ext cx="239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384-dim local BGE fallback collection</a:t>
            </a:r>
            <a:endParaRPr lang="en-US" sz="1000" dirty="0"/>
          </a:p>
        </p:txBody>
      </p:sp>
      <p:sp>
        <p:nvSpPr>
          <p:cNvPr id="56" name="Shape 50"/>
          <p:cNvSpPr/>
          <p:nvPr/>
        </p:nvSpPr>
        <p:spPr>
          <a:xfrm>
            <a:off x="9427464" y="5120640"/>
            <a:ext cx="54864" cy="54864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Text 51"/>
          <p:cNvSpPr/>
          <p:nvPr/>
        </p:nvSpPr>
        <p:spPr>
          <a:xfrm>
            <a:off x="9484868" y="4992624"/>
            <a:ext cx="239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collection swap + manifest.json</a:t>
            </a:r>
            <a:endParaRPr lang="en-US" sz="1000" dirty="0"/>
          </a:p>
        </p:txBody>
      </p:sp>
      <p:sp>
        <p:nvSpPr>
          <p:cNvPr id="58" name="Text 5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AI  •  Clinical Decision Support</a:t>
            </a:r>
            <a:endParaRPr lang="en-US" sz="1000" dirty="0"/>
          </a:p>
        </p:txBody>
      </p:sp>
      <p:sp>
        <p:nvSpPr>
          <p:cNvPr id="59" name="Text 5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651922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EVIDENCE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D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Search Strategy: Vector + Keyword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and lexical search fail in different, complementary ways. Eva AI fuses both ranked lists with Reciprocal Rank Fusion so a chunk ranking highly on either signal surfaces near the top.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5577840" cy="2011680"/>
          </a:xfrm>
          <a:prstGeom prst="roundRect">
            <a:avLst>
              <a:gd name="adj" fmla="val 4091"/>
            </a:avLst>
          </a:prstGeom>
          <a:solidFill>
            <a:srgbClr val="0D2440"/>
          </a:solidFill>
          <a:ln/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26974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7BA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RRF SCORE FORMULA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5024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score(d) = Σ weight × 1 / (k + rankᵢ(d))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657600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60" i="1" dirty="0">
                <a:solidFill>
                  <a:srgbClr val="C7D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60 · summed across the dense and BM25 ranked lists · scores min-max normalised before the relevance floor is applied.</a:t>
            </a:r>
            <a:endParaRPr lang="en-US" sz="1060" dirty="0"/>
          </a:p>
        </p:txBody>
      </p:sp>
      <p:sp>
        <p:nvSpPr>
          <p:cNvPr id="9" name="Text 7"/>
          <p:cNvSpPr/>
          <p:nvPr/>
        </p:nvSpPr>
        <p:spPr>
          <a:xfrm>
            <a:off x="548640" y="4709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HYBRID WINS ON THIS CORPUS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5000" y="5143500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31520" y="4927600"/>
            <a:ext cx="558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exact drug names &amp; dose numbers (BM25) missed by pure semantic search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35000" y="5588000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31520" y="5372100"/>
            <a:ext cx="558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paraphrased clinical questions (dense) missed by pure keyword search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635000" y="6032500"/>
            <a:ext cx="64008" cy="64008"/>
          </a:xfrm>
          <a:prstGeom prst="ellipse">
            <a:avLst/>
          </a:prstGeom>
          <a:solidFill>
            <a:srgbClr val="2E5E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31520" y="5816600"/>
            <a:ext cx="558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Reranker measured and rejected: hybrid holds a 100% hit rate at 12ms/query vs 94.4% at 3,194 ms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6446520" y="1371600"/>
            <a:ext cx="5166360" cy="493776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720840" y="1572768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5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QUALITY — GOLDEN SET (20 QUESTIONS)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720840" y="2011680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006840" y="2011680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Fix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195560" y="2011680"/>
            <a:ext cx="1325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Fix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20840" y="2432304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chunks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006840" y="2432304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0195560" y="2432304"/>
            <a:ext cx="1325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46520" y="2852928"/>
            <a:ext cx="5166360" cy="420624"/>
          </a:xfrm>
          <a:prstGeom prst="rect">
            <a:avLst/>
          </a:prstGeom>
          <a:solidFill>
            <a:srgbClr val="E7F0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720840" y="2852928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hit rate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006840" y="2852928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0195560" y="2852928"/>
            <a:ext cx="1325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720840" y="3273552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mean hit rank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006840" y="3273552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1.83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0195560" y="3273552"/>
            <a:ext cx="1325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1.11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46520" y="3694176"/>
            <a:ext cx="5166360" cy="420624"/>
          </a:xfrm>
          <a:prstGeom prst="rect">
            <a:avLst/>
          </a:prstGeom>
          <a:solidFill>
            <a:srgbClr val="E7F0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720840" y="3694176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Precision@3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006840" y="3694176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0.389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0195560" y="3694176"/>
            <a:ext cx="1325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0.574  (+47%)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720840" y="4114800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Precision@5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006840" y="4114800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0.367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0195560" y="4114800"/>
            <a:ext cx="1325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0.444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446520" y="4535424"/>
            <a:ext cx="5166360" cy="420624"/>
          </a:xfrm>
          <a:prstGeom prst="rect">
            <a:avLst/>
          </a:prstGeom>
          <a:solidFill>
            <a:srgbClr val="E7F0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720840" y="4535424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Precision@3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9006840" y="4535424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0.352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0195560" y="4535424"/>
            <a:ext cx="1325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0.630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720840" y="5093208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Fixing a sectioning bug that misattributed 61% of the corpus to one section lifted Precision@3 by 47% with zero golden-set misses.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AI  •  Clinical Decision Support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671712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2E5E99"/>
                </a:solidFill>
                <a:latin typeface="Calibri"/>
              </a:rPr>
              <a:t>RETRIEVAL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>
                <a:solidFill>
                  <a:srgbClr val="0D2440"/>
                </a:solidFill>
                <a:latin typeface="Cambria"/>
              </a:rPr>
              <a:t>What Actually Moved the Needle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577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D2440"/>
                </a:solidFill>
                <a:latin typeface="Calibri"/>
              </a:rPr>
              <a:t>Two changes account for nearly all of Eva AI's retrieval gain — and one well-known technique was measured, then deliberately left out of the shipped path.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77440"/>
            <a:ext cx="557784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77240" y="2596896"/>
            <a:ext cx="420624" cy="420624"/>
          </a:xfrm>
          <a:prstGeom prst="ellipse">
            <a:avLst/>
          </a:prstGeom>
          <a:solidFill>
            <a:srgbClr val="2E5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596896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2615184"/>
            <a:ext cx="4480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0D2440"/>
                </a:solidFill>
                <a:latin typeface="Calibri"/>
              </a:rPr>
              <a:t>Section-Aware Atomic Chunking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944368"/>
            <a:ext cx="4526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2A4A73"/>
                </a:solidFill>
                <a:latin typeface="Calibri"/>
              </a:rPr>
              <a:t>A sectioning bug was misattributing 61% of the corpus to a single section. Fixing it — and never splitting a numbered NG243 recommendation across chunks — lifted Precision@3 by 47% with zero golden-set misses.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151376"/>
            <a:ext cx="557784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777240" y="4370832"/>
            <a:ext cx="420624" cy="420624"/>
          </a:xfrm>
          <a:prstGeom prst="ellipse">
            <a:avLst/>
          </a:prstGeom>
          <a:solidFill>
            <a:srgbClr val="2E5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4370832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4389120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0D2440"/>
                </a:solidFill>
                <a:latin typeface="Calibri"/>
              </a:rPr>
              <a:t>Cross-Encoder Reranker — Measured, Not Shipped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4718304"/>
            <a:ext cx="4526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2A4A73"/>
                </a:solidFill>
                <a:latin typeface="Calibri"/>
              </a:rPr>
              <a:t>We built the reranker (ms-marco-MiniLM-L-6-v2) and A/B'd it on the golden set. It *lowered* hit rate while adding ~3.2s per query, so the default path ships without it. Evidence beat intuition.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1371600"/>
            <a:ext cx="5166360" cy="30353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20840" y="1572768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0D2440"/>
                </a:solidFill>
                <a:latin typeface="Calibri"/>
              </a:rPr>
              <a:t>CORPUS REALITY 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029967"/>
            <a:ext cx="9601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200" b="1">
                <a:solidFill>
                  <a:srgbClr val="2E5E99"/>
                </a:solidFill>
                <a:latin typeface="Cambria"/>
              </a:rPr>
              <a:t>63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2029967"/>
            <a:ext cx="34290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19" b="0">
                <a:solidFill>
                  <a:srgbClr val="0D2440"/>
                </a:solidFill>
                <a:latin typeface="Calibri"/>
              </a:rPr>
              <a:t>pages of NG243 ingested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2596896"/>
            <a:ext cx="9601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200" b="1">
                <a:solidFill>
                  <a:srgbClr val="2E5E99"/>
                </a:solidFill>
                <a:latin typeface="Cambria"/>
              </a:rPr>
              <a:t>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2596896"/>
            <a:ext cx="34290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19" b="0">
                <a:solidFill>
                  <a:srgbClr val="0D2440"/>
                </a:solidFill>
                <a:latin typeface="Calibri"/>
              </a:rPr>
              <a:t>atomic chunks after sectioning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3163824"/>
            <a:ext cx="9601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200" b="1">
                <a:solidFill>
                  <a:srgbClr val="2E5E99"/>
                </a:solidFill>
                <a:latin typeface="Cambr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3163824"/>
            <a:ext cx="34290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19" b="0">
                <a:solidFill>
                  <a:srgbClr val="0D2440"/>
                </a:solidFill>
                <a:latin typeface="Calibri"/>
              </a:rPr>
              <a:t>chunks retrieved per query (top_k)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670300"/>
            <a:ext cx="4617720" cy="711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A4A73"/>
                </a:solidFill>
                <a:latin typeface="Calibri"/>
              </a:rPr>
              <a:t>One guideline compressed into 34 chunks is why Recall@5 is capped at 81%: for some questions the answering section simply is not among the five that exist to be ranked. The fix is corpus depth, not a better ranker.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4590288"/>
            <a:ext cx="5166360" cy="1691640"/>
          </a:xfrm>
          <a:prstGeom prst="roundRect">
            <a:avLst/>
          </a:prstGeom>
          <a:solidFill>
            <a:srgbClr val="0D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20840" y="4736592"/>
            <a:ext cx="4617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7D9EF"/>
                </a:solidFill>
                <a:latin typeface="Calibri"/>
              </a:rPr>
              <a:t>RERANKER A/B — SHIPPED 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5010912"/>
            <a:ext cx="960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A8C6E8"/>
                </a:solidFill>
                <a:latin typeface="Calibri"/>
              </a:rPr>
              <a:t>HIT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5010912"/>
            <a:ext cx="960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A8C6E8"/>
                </a:solidFill>
                <a:latin typeface="Calibri"/>
              </a:rPr>
              <a:t>LATENCY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5285231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Hybrid + RRF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5596127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C7D9EF"/>
                </a:solidFill>
                <a:latin typeface="Calibri"/>
              </a:rPr>
              <a:t>Hybrid + reranker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5285231"/>
            <a:ext cx="960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>
                <a:solidFill>
                  <a:srgbClr val="C7D9EF"/>
                </a:solidFill>
                <a:latin typeface="Calibri"/>
              </a:rPr>
              <a:t>100.0%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5285231"/>
            <a:ext cx="960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>
                <a:solidFill>
                  <a:srgbClr val="C7D9EF"/>
                </a:solidFill>
                <a:latin typeface="Calibri"/>
              </a:rPr>
              <a:t>12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5596127"/>
            <a:ext cx="960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>
                <a:solidFill>
                  <a:srgbClr val="A8C6E8"/>
                </a:solidFill>
                <a:latin typeface="Calibri"/>
              </a:rPr>
              <a:t>94.4%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0" y="5596127"/>
            <a:ext cx="960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>
                <a:solidFill>
                  <a:srgbClr val="A8C6E8"/>
                </a:solidFill>
                <a:latin typeface="Calibri"/>
              </a:rPr>
              <a:t>3,194 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5925312"/>
            <a:ext cx="4617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C7D9EF"/>
                </a:solidFill>
                <a:latin typeface="Calibri"/>
              </a:rPr>
              <a:t>Higher quality AND 266x faster without it — so it stays off by default.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C6E93"/>
                </a:solidFill>
                <a:latin typeface="Calibri"/>
              </a:rPr>
              <a:t>EVA AI  •  Clinical Decision Support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4C6E93"/>
                </a:solidFill>
                <a:latin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3748823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ANSWERS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D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Generation &amp; Structural Citations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never freelances — it assembles, cites, and streams. It cannot answer without evidence in hand.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6974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613916" y="2057400"/>
            <a:ext cx="566928" cy="566928"/>
          </a:xfrm>
          <a:prstGeom prst="ellipse">
            <a:avLst/>
          </a:prstGeom>
          <a:solidFill>
            <a:srgbClr val="2E5E99"/>
          </a:solidFill>
          <a:ln/>
          <a:effectLst>
            <a:outerShdw blurRad="101600" dist="38100" dir="5400000" algn="bl" rotWithShape="0">
              <a:srgbClr val="1B3A63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/home/claude/eva_pptx/icons/lay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5648" y="21991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274320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Assembler</a:t>
            </a:r>
            <a:endParaRPr lang="en-US" sz="1180" dirty="0"/>
          </a:p>
        </p:txBody>
      </p:sp>
      <p:sp>
        <p:nvSpPr>
          <p:cNvPr id="9" name="Text 6"/>
          <p:cNvSpPr/>
          <p:nvPr/>
        </p:nvSpPr>
        <p:spPr>
          <a:xfrm>
            <a:off x="713232" y="3090672"/>
            <a:ext cx="236829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Packs top-ranked chunks into a bounded evidence window with full metadata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64408" y="2670048"/>
            <a:ext cx="173736" cy="146304"/>
          </a:xfrm>
          <a:prstGeom prst="rightArrow">
            <a:avLst/>
          </a:prstGeom>
          <a:solidFill>
            <a:srgbClr val="7BA4D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3447288" y="1828800"/>
            <a:ext cx="26974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4512564" y="2057400"/>
            <a:ext cx="566928" cy="566928"/>
          </a:xfrm>
          <a:prstGeom prst="ellipse">
            <a:avLst/>
          </a:prstGeom>
          <a:solidFill>
            <a:srgbClr val="2E5E99"/>
          </a:solidFill>
          <a:ln/>
          <a:effectLst>
            <a:outerShdw blurRad="101600" dist="38100" dir="5400000" algn="bl" rotWithShape="0">
              <a:srgbClr val="1B3A63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1" descr="/home/claude/eva_pptx/icons/fileTex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96" y="2199132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84448" y="274320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</a:t>
            </a:r>
            <a:endParaRPr lang="en-US" sz="1180" dirty="0"/>
          </a:p>
        </p:txBody>
      </p:sp>
      <p:sp>
        <p:nvSpPr>
          <p:cNvPr id="15" name="Text 11"/>
          <p:cNvSpPr/>
          <p:nvPr/>
        </p:nvSpPr>
        <p:spPr>
          <a:xfrm>
            <a:off x="3611880" y="3090672"/>
            <a:ext cx="236829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system prompt: grounding + security constraints, last 4 turns of history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163056" y="2670048"/>
            <a:ext cx="173736" cy="146304"/>
          </a:xfrm>
          <a:prstGeom prst="rightArrow">
            <a:avLst/>
          </a:prstGeom>
          <a:solidFill>
            <a:srgbClr val="7BA4D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6345936" y="1828800"/>
            <a:ext cx="26974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7411212" y="2057400"/>
            <a:ext cx="566928" cy="566928"/>
          </a:xfrm>
          <a:prstGeom prst="ellipse">
            <a:avLst/>
          </a:prstGeom>
          <a:solidFill>
            <a:srgbClr val="2E5E99"/>
          </a:solidFill>
          <a:ln/>
          <a:effectLst>
            <a:outerShdw blurRad="101600" dist="38100" dir="5400000" algn="bl" rotWithShape="0">
              <a:srgbClr val="1B3A63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9" name="Image 2" descr="/home/claude/eva_pptx/icons/cpu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2944" y="2199132"/>
            <a:ext cx="283464" cy="28346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483096" y="274320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OmniRoute LLM Client</a:t>
            </a:r>
            <a:endParaRPr lang="en-US" sz="1180" dirty="0"/>
          </a:p>
        </p:txBody>
      </p:sp>
      <p:sp>
        <p:nvSpPr>
          <p:cNvPr id="21" name="Text 16"/>
          <p:cNvSpPr/>
          <p:nvPr/>
        </p:nvSpPr>
        <p:spPr>
          <a:xfrm>
            <a:off x="6510528" y="3090672"/>
            <a:ext cx="236829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eva-ai model — async call with tracing spans; the LLM round-trip is ~98% of end-to-end latency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9061704" y="2670048"/>
            <a:ext cx="173736" cy="146304"/>
          </a:xfrm>
          <a:prstGeom prst="rightArrow">
            <a:avLst/>
          </a:prstGeom>
          <a:solidFill>
            <a:srgbClr val="7BA4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9244584" y="1828800"/>
            <a:ext cx="26974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9DCF0"/>
            </a:solidFill>
            <a:prstDash val="solid"/>
          </a:ln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10309860" y="2057400"/>
            <a:ext cx="566928" cy="566928"/>
          </a:xfrm>
          <a:prstGeom prst="ellipse">
            <a:avLst/>
          </a:prstGeom>
          <a:solidFill>
            <a:srgbClr val="2E5E99"/>
          </a:solidFill>
          <a:ln/>
          <a:effectLst>
            <a:outerShdw blurRad="101600" dist="38100" dir="5400000" algn="bl" rotWithShape="0">
              <a:srgbClr val="1B3A63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3" descr="/home/claude/eva_pptx/icons/checkCircl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1592" y="2199132"/>
            <a:ext cx="283464" cy="28346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381744" y="274320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Extractor</a:t>
            </a:r>
            <a:endParaRPr lang="en-US" sz="1180" dirty="0"/>
          </a:p>
        </p:txBody>
      </p:sp>
      <p:sp>
        <p:nvSpPr>
          <p:cNvPr id="27" name="Text 21"/>
          <p:cNvSpPr/>
          <p:nvPr/>
        </p:nvSpPr>
        <p:spPr>
          <a:xfrm>
            <a:off x="9409176" y="3090672"/>
            <a:ext cx="236829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Parses [Source N] tags, validates against retrieved chunks, flags abstention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548640" y="3977640"/>
            <a:ext cx="11064240" cy="2148840"/>
          </a:xfrm>
          <a:prstGeom prst="roundRect">
            <a:avLst>
              <a:gd name="adj" fmla="val 3830"/>
            </a:avLst>
          </a:prstGeom>
          <a:solidFill>
            <a:srgbClr val="0D2440"/>
          </a:solidFill>
          <a:ln/>
          <a:effectLst>
            <a:outerShdw blurRad="127000" dist="38100" dir="5400000" algn="bl" rotWithShape="0">
              <a:srgbClr val="1B3A6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3"/>
          <p:cNvSpPr/>
          <p:nvPr/>
        </p:nvSpPr>
        <p:spPr>
          <a:xfrm>
            <a:off x="82296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7BA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GROUNDED RESPONSE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822960" y="4480560"/>
            <a:ext cx="6675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“For adults with suspected adrenal crisis, administer 100 mg hydrocortisone immediately via IV or IM injection [Source 1]. Do not delay treatment to perform diagnostic investigations.”</a:t>
            </a:r>
            <a:endParaRPr lang="en-US" sz="1350" dirty="0"/>
          </a:p>
        </p:txBody>
      </p:sp>
      <p:sp>
        <p:nvSpPr>
          <p:cNvPr id="31" name="Text 25"/>
          <p:cNvSpPr/>
          <p:nvPr/>
        </p:nvSpPr>
        <p:spPr>
          <a:xfrm>
            <a:off x="822960" y="5623560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7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Streamed via POST /api/generate/stream — SSE events: meta → token → done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589520" y="4343400"/>
            <a:ext cx="3794760" cy="1600200"/>
          </a:xfrm>
          <a:prstGeom prst="roundRect">
            <a:avLst>
              <a:gd name="adj" fmla="val 5143"/>
            </a:avLst>
          </a:prstGeom>
          <a:solidFill>
            <a:srgbClr val="1229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27"/>
          <p:cNvSpPr/>
          <p:nvPr/>
        </p:nvSpPr>
        <p:spPr>
          <a:xfrm>
            <a:off x="7818120" y="4480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7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[Source 1]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7818120" y="4773168"/>
            <a:ext cx="3383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NG243 · Section 1.7</a:t>
            </a:r>
            <a:endParaRPr lang="en-US" sz="103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management of adrenal crisis</a:t>
            </a:r>
            <a:endParaRPr lang="en-US" sz="103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14</a:t>
            </a:r>
            <a:endParaRPr lang="en-US" sz="1030" dirty="0"/>
          </a:p>
        </p:txBody>
      </p:sp>
      <p:sp>
        <p:nvSpPr>
          <p:cNvPr id="35" name="Text 2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AI  •  Clinical Decision Support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C6E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528101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7BA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GUARDRAILS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In-Domain Hallucination Prevention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9F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independent, fail-closed layers stand between a query and the LLM — verified by a 77-test stress suite (0 failures).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12294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04672" y="2130552"/>
            <a:ext cx="548640" cy="548640"/>
          </a:xfrm>
          <a:prstGeom prst="ellipse">
            <a:avLst/>
          </a:prstGeom>
          <a:solidFill>
            <a:srgbClr val="7BA4D0"/>
          </a:solidFill>
          <a:ln/>
          <a:effectLst>
            <a:outerShdw blurRad="101600" dist="38100" dir="5400000" algn="bl" rotWithShape="0">
              <a:srgbClr val="1B3A63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/home/claude/eva_pptx/icons/shield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226771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2788920"/>
            <a:ext cx="30083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0 — Injection Guard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246120"/>
            <a:ext cx="3008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7D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 deterministic regex patterns block override phrases, DAN/jailbreak personas, prompt-reveal attempts, and delimiter injection — &lt;1ms overhead.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25112" y="187452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12294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4581144" y="2130552"/>
            <a:ext cx="548640" cy="548640"/>
          </a:xfrm>
          <a:prstGeom prst="ellipse">
            <a:avLst/>
          </a:prstGeom>
          <a:solidFill>
            <a:srgbClr val="7BA4D0"/>
          </a:solidFill>
          <a:ln/>
          <a:effectLst>
            <a:outerShdw blurRad="101600" dist="38100" dir="5400000" algn="bl" rotWithShape="0">
              <a:srgbClr val="1B3A63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/home/claude/eva_pptx/icons/filter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8304" y="2267712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81144" y="2788920"/>
            <a:ext cx="30083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Scope Classifier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581144" y="3246120"/>
            <a:ext cx="3008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7D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classify_scope() rejects out-of-scope clinical domains (cardiology, asthma, diabetes) at threshold 0.68 before generation is attempted.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8101584" y="187452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12294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8357616" y="2130552"/>
            <a:ext cx="548640" cy="548640"/>
          </a:xfrm>
          <a:prstGeom prst="ellipse">
            <a:avLst/>
          </a:prstGeom>
          <a:solidFill>
            <a:srgbClr val="7BA4D0"/>
          </a:solidFill>
          <a:ln/>
          <a:effectLst>
            <a:outerShdw blurRad="101600" dist="38100" dir="5400000" algn="bl" rotWithShape="0">
              <a:srgbClr val="1B3A63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2" descr="/home/claude/eva_pptx/icons/checkCircle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4776" y="2267712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57616" y="2788920"/>
            <a:ext cx="30083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Floor Guard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8357616" y="3246120"/>
            <a:ext cx="3008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7D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should_abstain() refuses when every retrieved chunk sits below relevance_floor = 0.70 — weak evidence is shown, never silently used.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4434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7BA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GROUNDING PROMPT — 6 RULES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48640" y="4828032"/>
            <a:ext cx="64008" cy="64008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731520" y="4700016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Evidence-Only (no parametric memory)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4297680" y="4828032"/>
            <a:ext cx="64008" cy="64008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4480560" y="4700016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Citations on every claim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8046720" y="4828032"/>
            <a:ext cx="64008" cy="64008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8229600" y="4700016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Abstention when evidence absent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548640" y="5330952"/>
            <a:ext cx="64008" cy="64008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3"/>
          <p:cNvSpPr/>
          <p:nvPr/>
        </p:nvSpPr>
        <p:spPr>
          <a:xfrm>
            <a:off x="731520" y="5202936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Precision — verbatim drug/dose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4297680" y="5330952"/>
            <a:ext cx="64008" cy="64008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5"/>
          <p:cNvSpPr/>
          <p:nvPr/>
        </p:nvSpPr>
        <p:spPr>
          <a:xfrm>
            <a:off x="4480560" y="5202936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Enforcement — standard refusal msg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8046720" y="5330952"/>
            <a:ext cx="64008" cy="64008"/>
          </a:xfrm>
          <a:prstGeom prst="ellipse">
            <a:avLst/>
          </a:prstGeom>
          <a:solidFill>
            <a:srgbClr val="7BA4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8229600" y="5202936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Format — bullets vs prose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548640" y="5897880"/>
            <a:ext cx="11064240" cy="594360"/>
          </a:xfrm>
          <a:prstGeom prst="roundRect">
            <a:avLst>
              <a:gd name="adj" fmla="val 13846"/>
            </a:avLst>
          </a:prstGeom>
          <a:solidFill>
            <a:srgbClr val="2E5E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29"/>
          <p:cNvSpPr/>
          <p:nvPr/>
        </p:nvSpPr>
        <p:spPr>
          <a:xfrm>
            <a:off x="731520" y="589788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/ 77 grounding, scope &amp; citation tests passing in 2.9s  ·  23/23 known injection patterns detected  ·  11/11 benign queries never blocked</a:t>
            </a:r>
            <a:endParaRPr lang="en-US" sz="1100" dirty="0"/>
          </a:p>
        </p:txBody>
      </p:sp>
      <p:sp>
        <p:nvSpPr>
          <p:cNvPr id="35" name="Text 3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F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AI  •  Clinical Decision Support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2E5E99"/>
                </a:solidFill>
                <a:latin typeface="Calibri"/>
              </a:rPr>
              <a:t>EVALUATION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>
                <a:solidFill>
                  <a:srgbClr val="0D2440"/>
                </a:solidFill>
                <a:latin typeface="Cambria"/>
              </a:rPr>
              <a:t>How We Measure Ourselves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D2440"/>
                </a:solidFill>
                <a:latin typeface="Calibri"/>
              </a:rPr>
              <a:t>45 clinician-reviewed golden cases, three formal metrics, and five release gates that can block a release. The harness runs from the CLI and rewrites its own report.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474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2286000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>
                <a:solidFill>
                  <a:srgbClr val="2E5E99"/>
                </a:solidFill>
                <a:latin typeface="Cambria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395727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spc="60">
                <a:solidFill>
                  <a:srgbClr val="0D2440"/>
                </a:solidFill>
                <a:latin typeface="Calibri"/>
              </a:rPr>
              <a:t>RETRIEVAL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889503"/>
            <a:ext cx="299923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golden_questions.yaml — each mapped to the NG243 section and
recommendation IDs that actually answer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2103120"/>
            <a:ext cx="3474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53712" y="2286000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>
                <a:solidFill>
                  <a:srgbClr val="2E5E99"/>
                </a:solidFill>
                <a:latin typeface="Cambria"/>
              </a:rP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19" y="2395727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spc="60">
                <a:solidFill>
                  <a:srgbClr val="0D2440"/>
                </a:solidFill>
                <a:latin typeface="Calibri"/>
              </a:rPr>
              <a:t>GENERATION SCENARIOS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889503"/>
            <a:ext cx="299923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golden_generation.yaml — expected drug, dose, route,
prohibited phrases and required refusals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103120"/>
            <a:ext cx="3474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02751" y="2286000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>
                <a:solidFill>
                  <a:srgbClr val="2E5E99"/>
                </a:solidFill>
                <a:latin typeface="Cambria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59" y="2395727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spc="60">
                <a:solidFill>
                  <a:srgbClr val="0D2440"/>
                </a:solidFill>
                <a:latin typeface="Calibri"/>
              </a:rPr>
              <a:t>CLINICAL DOMAINS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1" y="2889503"/>
            <a:ext cx="299923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emergency, paediatric, pregnancy, sick-day, out-of-scope,
adversarial injection, bilingual Arabic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9476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5E99"/>
                </a:solidFill>
                <a:latin typeface="Calibri"/>
              </a:rPr>
              <a:t>THE THREE METRICS — FORMAL DEFINITIONS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160520"/>
            <a:ext cx="11064240" cy="713232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59" y="4261104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0D2440"/>
                </a:solidFill>
                <a:latin typeface="Calibri"/>
              </a:rPr>
              <a:t>Retrieval Recall@5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233672"/>
            <a:ext cx="49834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E5E99"/>
                </a:solidFill>
                <a:latin typeface="Courier New"/>
              </a:rPr>
              <a:t>Recall@K  =  (1/N) Σ  1[ ∃c ∈ TopK(q) : Section(c) ∈ Expected(q) 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562856"/>
            <a:ext cx="795527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C6E93"/>
                </a:solidFill>
                <a:latin typeface="Calibri"/>
              </a:rPr>
              <a:t>A hit means at least one retrieved chunk carries a ground-truth NG243 section ID.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83480"/>
            <a:ext cx="11064240" cy="713232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59" y="5084064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0D2440"/>
                </a:solidFill>
                <a:latin typeface="Calibri"/>
              </a:rPr>
              <a:t>Citation Precision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5056632"/>
            <a:ext cx="49834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E5E99"/>
                </a:solidFill>
                <a:latin typeface="Courier New"/>
              </a:rPr>
              <a:t>Precision  =  Σ VerifiedCitations(a)  /  Σ ExtractedCitations(a)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5385816"/>
            <a:ext cx="795527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C6E93"/>
                </a:solidFill>
                <a:latin typeface="Calibri"/>
              </a:rPr>
              <a:t>Verified = correct structural format AND the section/page exists AND the claim is supported.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06440"/>
            <a:ext cx="11064240" cy="713232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59" y="5907024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0D2440"/>
                </a:solidFill>
                <a:latin typeface="Calibri"/>
              </a:rPr>
              <a:t>Clinical Safety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5879592"/>
            <a:ext cx="49834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E5E99"/>
                </a:solidFill>
                <a:latin typeface="Courier New"/>
              </a:rPr>
              <a:t>Safety  =  (1/E) Σ  1[ drug ∧ exact dose ∧ allowed route ∧ ¬prohibited 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6208776"/>
            <a:ext cx="795527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C6E93"/>
                </a:solidFill>
                <a:latin typeface="Calibri"/>
              </a:rPr>
              <a:t>All four conditions must hold at once — a single wrong unit fails the whole case.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C6E93"/>
                </a:solidFill>
                <a:latin typeface="Calibri"/>
              </a:rPr>
              <a:t>EVA AI  •  Clinical Decision Support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4C6E93"/>
                </a:solidFill>
                <a:latin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56207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7BA4D0"/>
                </a:solidFill>
                <a:latin typeface="Calibri"/>
              </a:rPr>
              <a:t>EVALUATION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mbria"/>
              </a:rPr>
              <a:t>Release Gate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C7D9EF"/>
                </a:solidFill>
                <a:latin typeface="Calibri"/>
              </a:rPr>
              <a:t>Every gate below is computed by scripts/run_clinical_evaluation.py against the live system. We publish the failures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011680"/>
            <a:ext cx="42062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spc="80">
                <a:solidFill>
                  <a:srgbClr val="7BA4D0"/>
                </a:solidFill>
                <a:latin typeface="Calibri"/>
              </a:rPr>
              <a:t>Release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0116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spc="80">
                <a:solidFill>
                  <a:srgbClr val="7BA4D0"/>
                </a:solidFill>
                <a:latin typeface="Calibri"/>
              </a:rPr>
              <a:t>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011680"/>
            <a:ext cx="1645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spc="80">
                <a:solidFill>
                  <a:srgbClr val="7BA4D0"/>
                </a:solidFill>
                <a:latin typeface="Calibri"/>
              </a:rPr>
              <a:t>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011680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spc="80">
                <a:solidFill>
                  <a:srgbClr val="7BA4D0"/>
                </a:solidFill>
                <a:latin typeface="Calibri"/>
              </a:rPr>
              <a:t>Status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59152"/>
            <a:ext cx="11064240" cy="566928"/>
          </a:xfrm>
          <a:prstGeom prst="roundRect">
            <a:avLst/>
          </a:prstGeom>
          <a:solidFill>
            <a:srgbClr val="12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" y="2359152"/>
            <a:ext cx="42062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Medication &amp; Numerical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359152"/>
            <a:ext cx="1463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7BA4D0"/>
                </a:solidFill>
                <a:latin typeface="Calibri"/>
              </a:rPr>
              <a:t>≥ 85.0%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359152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Cambria"/>
              </a:rPr>
              <a:t>90.5%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2505456"/>
            <a:ext cx="841248" cy="274320"/>
          </a:xfrm>
          <a:prstGeom prst="roundRect">
            <a:avLst/>
          </a:prstGeom>
          <a:solidFill>
            <a:srgbClr val="2E8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0" y="2505456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80600" y="2359152"/>
            <a:ext cx="1676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C5D9EE"/>
                </a:solidFill>
                <a:latin typeface="Calibri"/>
              </a:rPr>
              <a:t>no wrong drug, dose or route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999232"/>
            <a:ext cx="11064240" cy="566928"/>
          </a:xfrm>
          <a:prstGeom prst="roundRect">
            <a:avLst/>
          </a:prstGeom>
          <a:solidFill>
            <a:srgbClr val="12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59" y="2999232"/>
            <a:ext cx="42062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Retrieval Recall@5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999232"/>
            <a:ext cx="1463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7BA4D0"/>
                </a:solidFill>
                <a:latin typeface="Calibri"/>
              </a:rPr>
              <a:t>≥ 85.0%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999232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Cambria"/>
              </a:rPr>
              <a:t>81.0%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3145536"/>
            <a:ext cx="841248" cy="274320"/>
          </a:xfrm>
          <a:prstGeom prst="roundRect">
            <a:avLst/>
          </a:prstGeom>
          <a:solidFill>
            <a:srgbClr val="C2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61120" y="3145536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80600" y="2999232"/>
            <a:ext cx="1676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C5D9EE"/>
                </a:solidFill>
                <a:latin typeface="Calibri"/>
              </a:rPr>
              <a:t>34-chunk corpus limits top-5 coverage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639312"/>
            <a:ext cx="11064240" cy="566928"/>
          </a:xfrm>
          <a:prstGeom prst="roundRect">
            <a:avLst/>
          </a:prstGeom>
          <a:solidFill>
            <a:srgbClr val="12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59" y="3639312"/>
            <a:ext cx="42062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Citation Validity &amp; Completeness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3639312"/>
            <a:ext cx="1463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7BA4D0"/>
                </a:solidFill>
                <a:latin typeface="Calibri"/>
              </a:rPr>
              <a:t>≥ 90.0%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3639312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Cambria"/>
              </a:rPr>
              <a:t>81.0%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0" y="3785616"/>
            <a:ext cx="841248" cy="274320"/>
          </a:xfrm>
          <a:prstGeom prst="roundRect">
            <a:avLst/>
          </a:prstGeom>
          <a:solidFill>
            <a:srgbClr val="C2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61120" y="3785616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80600" y="3639312"/>
            <a:ext cx="1676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C5D9EE"/>
                </a:solidFill>
                <a:latin typeface="Calibri"/>
              </a:rPr>
              <a:t>tracks recall — refused turns cite nothing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279392"/>
            <a:ext cx="11064240" cy="566928"/>
          </a:xfrm>
          <a:prstGeom prst="roundRect">
            <a:avLst/>
          </a:prstGeom>
          <a:solidFill>
            <a:srgbClr val="12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59" y="4279392"/>
            <a:ext cx="42062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Correct Abstention 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4279392"/>
            <a:ext cx="1463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7BA4D0"/>
                </a:solidFill>
                <a:latin typeface="Calibri"/>
              </a:rPr>
              <a:t>≥ 95.0%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4279392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Cambria"/>
              </a:rPr>
              <a:t>88.0%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4425696"/>
            <a:ext cx="841248" cy="274320"/>
          </a:xfrm>
          <a:prstGeom prst="roundRect">
            <a:avLst/>
          </a:prstGeom>
          <a:solidFill>
            <a:srgbClr val="C2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961120" y="4425696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80600" y="4279392"/>
            <a:ext cx="1676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C5D9EE"/>
                </a:solidFill>
                <a:latin typeface="Calibri"/>
              </a:rPr>
              <a:t>over-refusal, not under-refusal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919472"/>
            <a:ext cx="11064240" cy="566928"/>
          </a:xfrm>
          <a:prstGeom prst="roundRect">
            <a:avLst/>
          </a:prstGeom>
          <a:solidFill>
            <a:srgbClr val="12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22959" y="4919472"/>
            <a:ext cx="42062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Emergency Zero-Tolerance 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4919472"/>
            <a:ext cx="1463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7BA4D0"/>
                </a:solidFill>
                <a:latin typeface="Calibri"/>
              </a:rPr>
              <a:t>0 errors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919472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Cambria"/>
              </a:rPr>
              <a:t>3 errors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61120" y="5065776"/>
            <a:ext cx="841248" cy="274320"/>
          </a:xfrm>
          <a:prstGeom prst="roundRect">
            <a:avLst/>
          </a:prstGeom>
          <a:solidFill>
            <a:srgbClr val="C2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961120" y="5065776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80600" y="4919472"/>
            <a:ext cx="1676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C5D9EE"/>
                </a:solidFill>
                <a:latin typeface="Calibri"/>
              </a:rPr>
              <a:t>2 are refusals of valid questions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650992"/>
            <a:ext cx="11064240" cy="640080"/>
          </a:xfrm>
          <a:prstGeom prst="roundRect">
            <a:avLst/>
          </a:prstGeom>
          <a:solidFill>
            <a:srgbClr val="1B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1247" y="5650992"/>
            <a:ext cx="60350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019" b="0">
                <a:solidFill>
                  <a:srgbClr val="FFFFFF"/>
                </a:solidFill>
                <a:latin typeface="Calibri"/>
              </a:rPr>
              <a:t>20 of 25 cases pass. Zero cases returned an incorrect drug, dose or route — all five failures were over-refusals or omissions, never a dangerous answer.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79" y="5650992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Cambria"/>
              </a:rPr>
              <a:t>80.0%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55480" y="5650992"/>
            <a:ext cx="1965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7BA4D0"/>
                </a:solidFill>
                <a:latin typeface="Calibri"/>
              </a:rPr>
              <a:t>OVERALL CASE
PASS 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7BA4D0"/>
                </a:solidFill>
                <a:latin typeface="Calibri"/>
              </a:rPr>
              <a:t>EVA AI  •  Clinical Decision Support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7BA4D0"/>
                </a:solidFill>
                <a:latin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5551798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2E5E99"/>
                </a:solidFill>
                <a:latin typeface="Calibri"/>
              </a:rPr>
              <a:t>EVALUATION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>
                <a:solidFill>
                  <a:srgbClr val="0D2440"/>
                </a:solidFill>
                <a:latin typeface="Cambria"/>
              </a:rPr>
              <a:t>Where It Holds, and Where It Slips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D2440"/>
                </a:solidFill>
                <a:latin typeface="Calibri"/>
              </a:rPr>
              <a:t>Pass rate per clinical domain. The weak columns are the honest ones — they tell us exactly what to fix next.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Emergency treatment &amp; crisis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60520" y="2185416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160520" y="2185416"/>
            <a:ext cx="6035040" cy="201168"/>
          </a:xfrm>
          <a:prstGeom prst="roundRect">
            <a:avLst/>
          </a:prstGeom>
          <a:solidFill>
            <a:srgbClr val="2E5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360151" y="214884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D2440"/>
                </a:solidFill>
                <a:latin typeface="Calibri"/>
              </a:rPr>
              <a:t>3/3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Out-of-scope refusals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2551176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160520" y="2551176"/>
            <a:ext cx="6035040" cy="201168"/>
          </a:xfrm>
          <a:prstGeom prst="roundRect">
            <a:avLst/>
          </a:prstGeom>
          <a:solidFill>
            <a:srgbClr val="2E5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360151" y="251460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D2440"/>
                </a:solidFill>
                <a:latin typeface="Calibri"/>
              </a:rPr>
              <a:t>3/3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880360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Pregnancy &amp; perioperative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2916936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160520" y="2916936"/>
            <a:ext cx="6035040" cy="201168"/>
          </a:xfrm>
          <a:prstGeom prst="roundRect">
            <a:avLst/>
          </a:prstGeom>
          <a:solidFill>
            <a:srgbClr val="2E5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360151" y="288036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D2440"/>
                </a:solidFill>
                <a:latin typeface="Calibri"/>
              </a:rPr>
              <a:t>3/3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46120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Adversarial prompt injection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0520" y="3282696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160520" y="3282696"/>
            <a:ext cx="6035040" cy="201168"/>
          </a:xfrm>
          <a:prstGeom prst="roundRect">
            <a:avLst/>
          </a:prstGeom>
          <a:solidFill>
            <a:srgbClr val="2E5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360151" y="324612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D2440"/>
                </a:solidFill>
                <a:latin typeface="Calibri"/>
              </a:rPr>
              <a:t>2/2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11879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Primary vs secondary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0520" y="3648456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160520" y="3648456"/>
            <a:ext cx="6035040" cy="201168"/>
          </a:xfrm>
          <a:prstGeom prst="roundRect">
            <a:avLst/>
          </a:prstGeom>
          <a:solidFill>
            <a:srgbClr val="2E5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360151" y="3611879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D2440"/>
                </a:solidFill>
                <a:latin typeface="Calibri"/>
              </a:rPr>
              <a:t>2/2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977639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Sick-day rules &amp; stress dosing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60520" y="4014215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160520" y="4014215"/>
            <a:ext cx="6035040" cy="201168"/>
          </a:xfrm>
          <a:prstGeom prst="roundRect">
            <a:avLst/>
          </a:prstGeom>
          <a:solidFill>
            <a:srgbClr val="2E5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360151" y="3977639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D2440"/>
                </a:solidFill>
                <a:latin typeface="Calibri"/>
              </a:rPr>
              <a:t>2/2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343400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Ambiguous inquiries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60520" y="4379976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160520" y="4379976"/>
            <a:ext cx="6035040" cy="201168"/>
          </a:xfrm>
          <a:prstGeom prst="roundRect">
            <a:avLst/>
          </a:prstGeom>
          <a:solidFill>
            <a:srgbClr val="2E5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360151" y="434340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D2440"/>
                </a:solidFill>
                <a:latin typeface="Calibri"/>
              </a:rPr>
              <a:t>1/1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709160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Steroid withdrawal &amp; tapering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60520" y="4745736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160520" y="4745736"/>
            <a:ext cx="6035040" cy="201168"/>
          </a:xfrm>
          <a:prstGeom prst="roundRect">
            <a:avLst/>
          </a:prstGeom>
          <a:solidFill>
            <a:srgbClr val="2E5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360151" y="470916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D2440"/>
                </a:solidFill>
                <a:latin typeface="Calibri"/>
              </a:rPr>
              <a:t>1/1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074920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Dangerous units &amp; negation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60520" y="5111496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160520" y="5111496"/>
            <a:ext cx="4023359" cy="201168"/>
          </a:xfrm>
          <a:prstGeom prst="roundRect">
            <a:avLst/>
          </a:prstGeom>
          <a:solidFill>
            <a:srgbClr val="7BA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360151" y="507492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4C6E93"/>
                </a:solidFill>
                <a:latin typeface="Calibri"/>
              </a:rPr>
              <a:t>2/3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440680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Paediatric vs adult dosing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60520" y="5477256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4160520" y="5477256"/>
            <a:ext cx="3017520" cy="201168"/>
          </a:xfrm>
          <a:prstGeom prst="roundRect">
            <a:avLst/>
          </a:prstGeom>
          <a:solidFill>
            <a:srgbClr val="7BA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360151" y="544068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4C6E93"/>
                </a:solidFill>
                <a:latin typeface="Calibri"/>
              </a:rPr>
              <a:t>1/2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806440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Patient education &amp; safety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60520" y="5843016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360151" y="580644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4C6E93"/>
                </a:solidFill>
                <a:latin typeface="Calibri"/>
              </a:rPr>
              <a:t>0/1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172200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30" b="0">
                <a:solidFill>
                  <a:srgbClr val="0D2440"/>
                </a:solidFill>
                <a:latin typeface="Calibri"/>
              </a:rPr>
              <a:t>Bilingual Arabic inquiries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60520" y="6208776"/>
            <a:ext cx="6035040" cy="201168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360151" y="617220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4C6E93"/>
                </a:solidFill>
                <a:latin typeface="Calibri"/>
              </a:rPr>
              <a:t>0/2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C6E93"/>
                </a:solidFill>
                <a:latin typeface="Calibri"/>
              </a:rPr>
              <a:t>EVA AI  •  Clinical Decision Support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4C6E9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2E5E99"/>
                </a:solidFill>
                <a:latin typeface="Calibri"/>
              </a:rPr>
              <a:t>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>
                <a:solidFill>
                  <a:srgbClr val="0D2440"/>
                </a:solidFill>
                <a:latin typeface="Cambria"/>
              </a:rPr>
              <a:t>Where the Time Actually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577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D2440"/>
                </a:solidFill>
                <a:latin typeface="Calibri"/>
              </a:rPr>
              <a:t>End-to-end latency measured across the full evaluation run — not a best-case number. The LLM call is ~98% of it; everything Eva AI controls costs under 100 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5486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2E5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STAGE BREAKDOWN (TYPICAL IN-SCOPE QUERY)</a:t>
            </a:r>
            <a:endParaRPr lang="en-US" sz="1200" dirty="0"/>
          </a:p>
        </p:txBody>
      </p:sp>
      <p:sp>
        <p:nvSpPr>
          <p:cNvPr id="30" name="TextBox 29"/>
          <p:cNvSpPr txBox="1"/>
          <p:nvPr/>
        </p:nvSpPr>
        <p:spPr>
          <a:xfrm>
            <a:off x="548640" y="5394959"/>
            <a:ext cx="5577840" cy="363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A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Eva AI controls totals </a:t>
            </a:r>
            <a:r>
              <a:rPr lang="en-US" sz="1100" b="1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ms</a:t>
            </a:r>
            <a:r>
              <a:rPr lang="en-US" sz="1100" dirty="0">
                <a:solidFill>
                  <a:srgbClr val="3A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under 2% of the total. The LLM round-trip is the remaining 98%, and the only part we do not control.</a:t>
            </a:r>
            <a:endParaRPr lang="en-US" sz="1100" dirty="0"/>
          </a:p>
        </p:txBody>
      </p:sp>
      <p:sp>
        <p:nvSpPr>
          <p:cNvPr id="31" name="Rounded Rectangle 30"/>
          <p:cNvSpPr/>
          <p:nvPr/>
        </p:nvSpPr>
        <p:spPr>
          <a:xfrm>
            <a:off x="6446520" y="2468880"/>
            <a:ext cx="51663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720840" y="2670048"/>
            <a:ext cx="4617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0D2440"/>
                </a:solidFill>
                <a:latin typeface="Calibri"/>
              </a:rPr>
              <a:t>END-TO-END LATENCY DISTRIBUTION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0840" y="3127248"/>
            <a:ext cx="14173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2E5E99"/>
                </a:solidFill>
                <a:latin typeface="Cambria"/>
              </a:rPr>
              <a:t>4.8 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3675888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spc="80">
                <a:solidFill>
                  <a:srgbClr val="4C6E93"/>
                </a:solidFill>
                <a:latin typeface="Calibri"/>
              </a:rPr>
              <a:t>P50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3608" y="3127248"/>
            <a:ext cx="14173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2E5E99"/>
                </a:solidFill>
                <a:latin typeface="Cambria"/>
              </a:rPr>
              <a:t>8.3 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3608" y="3675888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spc="80">
                <a:solidFill>
                  <a:srgbClr val="4C6E93"/>
                </a:solidFill>
                <a:latin typeface="Calibri"/>
              </a:rPr>
              <a:t>P95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66376" y="3127248"/>
            <a:ext cx="14173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2E5E99"/>
                </a:solidFill>
                <a:latin typeface="Cambria"/>
              </a:rPr>
              <a:t>35.1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66376" y="3675888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spc="80">
                <a:solidFill>
                  <a:srgbClr val="4C6E93"/>
                </a:solidFill>
                <a:latin typeface="Calibri"/>
              </a:rPr>
              <a:t>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20840" y="4096512"/>
            <a:ext cx="4617720" cy="363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A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across all 25 evaluation cases, cold cache, including the LLM round-trip.</a:t>
            </a:r>
            <a:endParaRPr lang="en-US" sz="1100" dirty="0"/>
          </a:p>
        </p:txBody>
      </p:sp>
      <p:sp>
        <p:nvSpPr>
          <p:cNvPr id="40" name="Rounded Rectangle 39"/>
          <p:cNvSpPr/>
          <p:nvPr/>
        </p:nvSpPr>
        <p:spPr>
          <a:xfrm>
            <a:off x="6446520" y="5074920"/>
            <a:ext cx="5166360" cy="1234440"/>
          </a:xfrm>
          <a:prstGeom prst="roundRect">
            <a:avLst/>
          </a:prstGeom>
          <a:solidFill>
            <a:srgbClr val="0D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720840" y="5239512"/>
            <a:ext cx="4617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7BA4D0"/>
                </a:solidFill>
                <a:latin typeface="Calibri"/>
              </a:rPr>
              <a:t>3-TIER CACHE — WARM PATH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5550408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C7D9EF"/>
                </a:solidFill>
                <a:latin typeface="Calibri"/>
              </a:rPr>
              <a:t>L1 embedding · L2 retrieval · L3 answer, TTL + LRU, auto-invalidated on corpus re-ingest.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0" y="5458968"/>
            <a:ext cx="1463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900" b="1">
                <a:solidFill>
                  <a:srgbClr val="FFFFFF"/>
                </a:solidFill>
                <a:latin typeface="Cambria"/>
              </a:rPr>
              <a:t>4.8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5879592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19" b="0">
                <a:solidFill>
                  <a:srgbClr val="7BA4D0"/>
                </a:solidFill>
                <a:latin typeface="Calibri"/>
              </a:rPr>
              <a:t>REPEAT QUERY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C6E93"/>
                </a:solidFill>
                <a:latin typeface="Calibri"/>
              </a:rPr>
              <a:t>EVA AI  •  Clinical Decision Support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4C6E93"/>
                </a:solidFill>
                <a:latin typeface="Calibri"/>
              </a:rPr>
              <a:t>13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3A56E32-0E96-4CE4-9F0B-7DBC8BFD6D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2263642"/>
              </p:ext>
            </p:extLst>
          </p:nvPr>
        </p:nvGraphicFramePr>
        <p:xfrm>
          <a:off x="546100" y="2768600"/>
          <a:ext cx="5588000" cy="2400300"/>
        </p:xfrm>
        <a:graphic>
          <a:graphicData uri="http://schemas.openxmlformats.org/drawingml/2006/table">
            <a:tbl>
              <a:tblPr/>
              <a:tblGrid>
                <a:gridCol w="2667000">
                  <a:extLst>
                    <a:ext uri="{9D8B030D-6E8A-4147-A177-3AD203B41FA5}">
                      <a16:colId xmlns:a16="http://schemas.microsoft.com/office/drawing/2014/main" val="2454227607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602532031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1209428430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Pipeline stage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2E5E9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Latency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2E5E9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Share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2E5E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615678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rgbClr val="3A5A80"/>
                          </a:solidFill>
                          <a:latin typeface="Calibri"/>
                          <a:ea typeface="Calibri"/>
                          <a:cs typeface="Calibri"/>
                        </a:rPr>
                        <a:t>Injection guard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>
                          <a:solidFill>
                            <a:srgbClr val="3A5A80"/>
                          </a:solidFill>
                          <a:latin typeface="Calibri"/>
                          <a:ea typeface="Calibri"/>
                          <a:cs typeface="Calibri"/>
                        </a:rPr>
                        <a:t>0.2 ms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>
                          <a:solidFill>
                            <a:srgbClr val="3A5A80"/>
                          </a:solidFill>
                          <a:latin typeface="Calibri"/>
                          <a:ea typeface="Calibri"/>
                          <a:cs typeface="Calibri"/>
                        </a:rPr>
                        <a:t>&lt;0.1%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709417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rgbClr val="3A5A80"/>
                          </a:solidFill>
                          <a:latin typeface="Calibri"/>
                          <a:ea typeface="Calibri"/>
                          <a:cs typeface="Calibri"/>
                        </a:rPr>
                        <a:t>Dosage guard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>
                          <a:solidFill>
                            <a:srgbClr val="3A5A80"/>
                          </a:solidFill>
                          <a:latin typeface="Calibri"/>
                          <a:ea typeface="Calibri"/>
                          <a:cs typeface="Calibri"/>
                        </a:rPr>
                        <a:t>0.1 ms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>
                          <a:solidFill>
                            <a:srgbClr val="3A5A80"/>
                          </a:solidFill>
                          <a:latin typeface="Calibri"/>
                          <a:ea typeface="Calibri"/>
                          <a:cs typeface="Calibri"/>
                        </a:rPr>
                        <a:t>&lt;0.1%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98847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rgbClr val="3A5A80"/>
                          </a:solidFill>
                          <a:latin typeface="Calibri"/>
                          <a:ea typeface="Calibri"/>
                          <a:cs typeface="Calibri"/>
                        </a:rPr>
                        <a:t>Scope classifier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>
                          <a:solidFill>
                            <a:srgbClr val="3A5A80"/>
                          </a:solidFill>
                          <a:latin typeface="Calibri"/>
                          <a:ea typeface="Calibri"/>
                          <a:cs typeface="Calibri"/>
                        </a:rPr>
                        <a:t>0.3 ms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>
                          <a:solidFill>
                            <a:srgbClr val="3A5A80"/>
                          </a:solidFill>
                          <a:latin typeface="Calibri"/>
                          <a:ea typeface="Calibri"/>
                          <a:cs typeface="Calibri"/>
                        </a:rPr>
                        <a:t>&lt;0.1%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670396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rgbClr val="3A5A80"/>
                          </a:solidFill>
                          <a:latin typeface="Calibri"/>
                          <a:ea typeface="Calibri"/>
                          <a:cs typeface="Calibri"/>
                        </a:rPr>
                        <a:t>Prompt build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>
                          <a:solidFill>
                            <a:srgbClr val="3A5A80"/>
                          </a:solidFill>
                          <a:latin typeface="Calibri"/>
                          <a:ea typeface="Calibri"/>
                          <a:cs typeface="Calibri"/>
                        </a:rPr>
                        <a:t>0.1 ms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>
                          <a:solidFill>
                            <a:srgbClr val="3A5A80"/>
                          </a:solidFill>
                          <a:latin typeface="Calibri"/>
                          <a:ea typeface="Calibri"/>
                          <a:cs typeface="Calibri"/>
                        </a:rPr>
                        <a:t>&lt;0.1%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338024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rgbClr val="3A5A80"/>
                          </a:solidFill>
                          <a:latin typeface="Calibri"/>
                          <a:ea typeface="Calibri"/>
                          <a:cs typeface="Calibri"/>
                        </a:rPr>
                        <a:t>Citation parsing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>
                          <a:solidFill>
                            <a:srgbClr val="3A5A80"/>
                          </a:solidFill>
                          <a:latin typeface="Calibri"/>
                          <a:ea typeface="Calibri"/>
                          <a:cs typeface="Calibri"/>
                        </a:rPr>
                        <a:t>0.9 ms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>
                          <a:solidFill>
                            <a:srgbClr val="3A5A80"/>
                          </a:solidFill>
                          <a:latin typeface="Calibri"/>
                          <a:ea typeface="Calibri"/>
                          <a:cs typeface="Calibri"/>
                        </a:rPr>
                        <a:t>&lt;0.1%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88687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rgbClr val="3A5A80"/>
                          </a:solidFill>
                          <a:latin typeface="Calibri"/>
                          <a:ea typeface="Calibri"/>
                          <a:cs typeface="Calibri"/>
                        </a:rPr>
                        <a:t>Graph expansion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>
                          <a:solidFill>
                            <a:srgbClr val="3A5A80"/>
                          </a:solidFill>
                          <a:latin typeface="Calibri"/>
                          <a:ea typeface="Calibri"/>
                          <a:cs typeface="Calibri"/>
                        </a:rPr>
                        <a:t>4.8 ms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>
                          <a:solidFill>
                            <a:srgbClr val="3A5A80"/>
                          </a:solidFill>
                          <a:latin typeface="Calibri"/>
                          <a:ea typeface="Calibri"/>
                          <a:cs typeface="Calibri"/>
                        </a:rPr>
                        <a:t>0.1%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6822236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rgbClr val="3A5A80"/>
                          </a:solidFill>
                          <a:latin typeface="Calibri"/>
                          <a:ea typeface="Calibri"/>
                          <a:cs typeface="Calibri"/>
                        </a:rPr>
                        <a:t>Hybrid retrieval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>
                          <a:solidFill>
                            <a:srgbClr val="3A5A80"/>
                          </a:solidFill>
                          <a:latin typeface="Calibri"/>
                          <a:ea typeface="Calibri"/>
                          <a:cs typeface="Calibri"/>
                        </a:rPr>
                        <a:t>73.3 ms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>
                          <a:solidFill>
                            <a:srgbClr val="3A5A80"/>
                          </a:solidFill>
                          <a:latin typeface="Calibri"/>
                          <a:ea typeface="Calibri"/>
                          <a:cs typeface="Calibri"/>
                        </a:rPr>
                        <a:t>1.8%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6099888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solidFill>
                            <a:srgbClr val="0D2440"/>
                          </a:solidFill>
                          <a:latin typeface="Calibri"/>
                          <a:ea typeface="Calibri"/>
                          <a:cs typeface="Calibri"/>
                        </a:rPr>
                        <a:t>LLM round-trip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>
                          <a:solidFill>
                            <a:srgbClr val="0D2440"/>
                          </a:solidFill>
                          <a:latin typeface="Calibri"/>
                          <a:ea typeface="Calibri"/>
                          <a:cs typeface="Calibri"/>
                        </a:rPr>
                        <a:t>3,937 ms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>
                          <a:solidFill>
                            <a:srgbClr val="0D2440"/>
                          </a:solidFill>
                          <a:latin typeface="Calibri"/>
                          <a:ea typeface="Calibri"/>
                          <a:cs typeface="Calibri"/>
                        </a:rPr>
                        <a:t>98.0%</a:t>
                      </a:r>
                    </a:p>
                  </a:txBody>
                  <a:tcPr marT="7056" marB="7056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7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9242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35676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2E5E99"/>
                </a:solidFill>
                <a:latin typeface="Calibri"/>
              </a:rPr>
              <a:t>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>
                <a:solidFill>
                  <a:srgbClr val="0D2440"/>
                </a:solidFill>
                <a:latin typeface="Cambria"/>
              </a:rPr>
              <a:t>Why Not Just Use ChatGPT?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D2440"/>
                </a:solidFill>
                <a:latin typeface="Calibri"/>
              </a:rPr>
              <a:t>The same clinical question, four ways. Only one of them can be audited by the clinician who has to sign off on the decision.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103120"/>
            <a:ext cx="27889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spc="60">
                <a:solidFill>
                  <a:srgbClr val="2E5E99"/>
                </a:solidFill>
                <a:latin typeface="Calibri"/>
              </a:rPr>
              <a:t>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0" y="2103120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4C6E93"/>
                </a:solidFill>
                <a:latin typeface="Calibri"/>
              </a:rPr>
              <a:t>Reading NG243
by hand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3288" y="2103120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4C6E93"/>
                </a:solidFill>
                <a:latin typeface="Calibri"/>
              </a:rPr>
              <a:t>Generic LLM
(ChatGPT / Gemini)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4696" y="2103120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4C6E93"/>
                </a:solidFill>
                <a:latin typeface="Calibri"/>
              </a:rPr>
              <a:t>Naive RAG
(chunk + embed + chat)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66376" y="2011679"/>
            <a:ext cx="2231136" cy="3803904"/>
          </a:xfrm>
          <a:prstGeom prst="round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976104" y="2103120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2E5E99"/>
                </a:solidFill>
                <a:latin typeface="Calibri"/>
              </a:rPr>
              <a:t>Eva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70048"/>
            <a:ext cx="11064240" cy="438912"/>
          </a:xfrm>
          <a:prstGeom prst="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59" y="2670048"/>
            <a:ext cx="2788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0D2440"/>
                </a:solidFill>
                <a:latin typeface="Calibri"/>
              </a:rPr>
              <a:t>Answer traced to a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670048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33288" y="2670048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54696" y="2670048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Sometimes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76104" y="2670048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5E99"/>
                </a:solidFill>
                <a:latin typeface="Calibri"/>
              </a:rPr>
              <a:t>Every claim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3108960"/>
            <a:ext cx="2788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0D2440"/>
                </a:solidFill>
                <a:latin typeface="Calibri"/>
              </a:rPr>
              <a:t>Refuses when out of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3108960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n/a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33288" y="3108960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3108960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Rarely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76104" y="3108960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5E99"/>
                </a:solidFill>
                <a:latin typeface="Calibri"/>
              </a:rPr>
              <a:t>3 fail-closed layers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547872"/>
            <a:ext cx="11064240" cy="438912"/>
          </a:xfrm>
          <a:prstGeom prst="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59" y="3547872"/>
            <a:ext cx="2788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0D2440"/>
                </a:solidFill>
                <a:latin typeface="Calibri"/>
              </a:rPr>
              <a:t>Refuses on weak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547872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n/a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33288" y="3547872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54696" y="3547872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76104" y="3547872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5E99"/>
                </a:solidFill>
                <a:latin typeface="Calibri"/>
              </a:rPr>
              <a:t>Relevance floor 0.70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" y="3986783"/>
            <a:ext cx="2788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0D2440"/>
                </a:solidFill>
                <a:latin typeface="Calibri"/>
              </a:rPr>
              <a:t>Recommendations kept atomic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3986783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Yes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33288" y="3986783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n/a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54696" y="3986783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76104" y="3986783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5E99"/>
                </a:solidFill>
                <a:latin typeface="Calibri"/>
              </a:rPr>
              <a:t>Never split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425696"/>
            <a:ext cx="11064240" cy="438912"/>
          </a:xfrm>
          <a:prstGeom prst="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2959" y="4425696"/>
            <a:ext cx="2788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0D2440"/>
                </a:solidFill>
                <a:latin typeface="Calibri"/>
              </a:rPr>
              <a:t>Prompt-injection defence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425696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n/a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33288" y="4425696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Partial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54696" y="4425696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76104" y="4425696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5E99"/>
                </a:solidFill>
                <a:latin typeface="Calibri"/>
              </a:rPr>
              <a:t>~25 patterns, pre-retrieval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59" y="4864608"/>
            <a:ext cx="2788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0D2440"/>
                </a:solidFill>
                <a:latin typeface="Calibri"/>
              </a:rPr>
              <a:t>Measured against golden set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11880" y="4864608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33288" y="4864608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No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54696" y="4864608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Rarely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76104" y="4864608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5E99"/>
                </a:solidFill>
                <a:latin typeface="Calibri"/>
              </a:rPr>
              <a:t>45 cases, 5 gates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303520"/>
            <a:ext cx="11064240" cy="438912"/>
          </a:xfrm>
          <a:prstGeom prst="rect">
            <a:avLst/>
          </a:prstGeom>
          <a:solidFill>
            <a:srgbClr val="E7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22959" y="5303520"/>
            <a:ext cx="2788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0D2440"/>
                </a:solidFill>
                <a:latin typeface="Calibri"/>
              </a:rPr>
              <a:t>Time to a cited answer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303520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Minutes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33288" y="5303520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Seconds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54696" y="5303520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4C6E93"/>
                </a:solidFill>
                <a:latin typeface="Calibri"/>
              </a:rPr>
              <a:t>Seconds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76104" y="5303520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5E99"/>
                </a:solidFill>
                <a:latin typeface="Calibri"/>
              </a:rPr>
              <a:t>~5 s, cited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5907024"/>
            <a:ext cx="11064240" cy="530352"/>
          </a:xfrm>
          <a:prstGeom prst="roundRect">
            <a:avLst/>
          </a:prstGeom>
          <a:solidFill>
            <a:srgbClr val="0D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41247" y="5907024"/>
            <a:ext cx="105156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Calibri"/>
              </a:rPr>
              <a:t>The difference is not that Eva AI answers more — it is that Eva AI refuses, cites, and can be checked.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C6E93"/>
                </a:solidFill>
                <a:latin typeface="Calibri"/>
              </a:rPr>
              <a:t>EVA AI  •  Clinical Decision Support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4C6E93"/>
                </a:solidFill>
                <a:latin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0351995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A8C6E8"/>
                </a:solidFill>
                <a:latin typeface="Calibri"/>
              </a:rPr>
              <a:t>FAILURES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mbria"/>
              </a:rPr>
              <a:t>What Our Own Evaluation Caught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89888"/>
            <a:ext cx="11064240" cy="1517904"/>
          </a:xfrm>
          <a:prstGeom prst="roundRect">
            <a:avLst/>
          </a:prstGeom>
          <a:solidFill>
            <a:srgbClr val="12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7" y="1554480"/>
            <a:ext cx="7863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80">
                <a:solidFill>
                  <a:srgbClr val="A8C6E8"/>
                </a:solidFill>
                <a:latin typeface="Calibri"/>
              </a:rPr>
              <a:t>SILENT DENSE-RETRIEVAL DEGRADATION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1865376"/>
            <a:ext cx="7589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Our Chroma index carried a 2-record, dimension-4 stub collection left behind by CI. Because the local 384-dim embedder routes to that fallback collection, every dense query failed and silently degraded to BM25-only. The demo still answered fluently — nothing looked broken. Only the golden-set run exposed it: dropping the stub took the pass rate from 64.0% to 80.0% and out-of-scope refusal from 0% to 100%.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20" y="1645920"/>
            <a:ext cx="3063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80">
                <a:solidFill>
                  <a:srgbClr val="4C6E93"/>
                </a:solidFill>
                <a:latin typeface="Calibri"/>
              </a:rPr>
              <a:t>CAUGHT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901952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FFFFFF"/>
                </a:solidFill>
                <a:latin typeface="Cambria"/>
              </a:rPr>
              <a:t>the eval harness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230428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A8C6E8"/>
                </a:solidFill>
                <a:latin typeface="Calibri"/>
              </a:rPr>
              <a:t>not by the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2724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80">
                <a:solidFill>
                  <a:srgbClr val="A8C6E8"/>
                </a:solidFill>
                <a:latin typeface="Calibri"/>
              </a:rPr>
              <a:t>OTHER FAILURES, ROOT-CAUSED AND FIXED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3575303"/>
            <a:ext cx="64008" cy="64008"/>
          </a:xfrm>
          <a:prstGeom prst="ellipse">
            <a:avLst/>
          </a:prstGeom>
          <a:solidFill>
            <a:srgbClr val="A8C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9808" y="3456432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Chroma dimension mismatch on Gemini 429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70332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A8C6E8"/>
                </a:solidFill>
                <a:latin typeface="Calibri"/>
              </a:rPr>
              <a:t>Dual-collection index + automatic local-embedder failover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4123944"/>
            <a:ext cx="64008" cy="64008"/>
          </a:xfrm>
          <a:prstGeom prst="ellipse">
            <a:avLst/>
          </a:prstGeom>
          <a:solidFill>
            <a:srgbClr val="A8C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" y="4005072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Precision loss from fixed-size chunking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25196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A8C6E8"/>
                </a:solidFill>
                <a:latin typeface="Calibri"/>
              </a:rPr>
              <a:t>Section-aware atomic chunking — Precision@3 +47%</a:t>
            </a:r>
          </a:p>
        </p:txBody>
      </p:sp>
      <p:sp>
        <p:nvSpPr>
          <p:cNvPr id="17" name="Oval 16"/>
          <p:cNvSpPr/>
          <p:nvPr/>
        </p:nvSpPr>
        <p:spPr>
          <a:xfrm>
            <a:off x="566928" y="4672583"/>
            <a:ext cx="64008" cy="64008"/>
          </a:xfrm>
          <a:prstGeom prst="ellipse">
            <a:avLst/>
          </a:prstGeom>
          <a:solidFill>
            <a:srgbClr val="A8C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4553712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Next.js 15 SSR hydration crash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80060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A8C6E8"/>
                </a:solidFill>
                <a:latin typeface="Calibri"/>
              </a:rPr>
              <a:t>localStorage reads deferred to a client mount effect</a:t>
            </a:r>
          </a:p>
        </p:txBody>
      </p:sp>
      <p:sp>
        <p:nvSpPr>
          <p:cNvPr id="20" name="Oval 19"/>
          <p:cNvSpPr/>
          <p:nvPr/>
        </p:nvSpPr>
        <p:spPr>
          <a:xfrm>
            <a:off x="566928" y="5221223"/>
            <a:ext cx="64008" cy="64008"/>
          </a:xfrm>
          <a:prstGeom prst="ellipse">
            <a:avLst/>
          </a:prstGeom>
          <a:solidFill>
            <a:srgbClr val="A8C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9808" y="5102351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4.4 s repeat-query latency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34924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A8C6E8"/>
                </a:solidFill>
                <a:latin typeface="Calibri"/>
              </a:rPr>
              <a:t>3-tier cache (embedding / retrieval / answer) — 4.8 ms warm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12724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80">
                <a:solidFill>
                  <a:srgbClr val="A8C6E8"/>
                </a:solidFill>
                <a:latin typeface="Calibri"/>
              </a:rPr>
              <a:t>OPEN — WHAT WE WOULD FIX NEXT</a:t>
            </a:r>
          </a:p>
        </p:txBody>
      </p:sp>
      <p:sp>
        <p:nvSpPr>
          <p:cNvPr id="24" name="Oval 23"/>
          <p:cNvSpPr/>
          <p:nvPr/>
        </p:nvSpPr>
        <p:spPr>
          <a:xfrm>
            <a:off x="6464807" y="3575303"/>
            <a:ext cx="64008" cy="64008"/>
          </a:xfrm>
          <a:prstGeom prst="ellipse">
            <a:avLst/>
          </a:prstGeom>
          <a:solidFill>
            <a:srgbClr val="C2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47688" y="3456432"/>
            <a:ext cx="4983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Scope classifier is English-biased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7688" y="3703320"/>
            <a:ext cx="4983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A8C6E8"/>
                </a:solidFill>
                <a:latin typeface="Calibri"/>
              </a:rPr>
              <a:t>Both Arabic cases were refused pre-retrieval in under 90 ms</a:t>
            </a:r>
          </a:p>
        </p:txBody>
      </p:sp>
      <p:sp>
        <p:nvSpPr>
          <p:cNvPr id="27" name="Oval 26"/>
          <p:cNvSpPr/>
          <p:nvPr/>
        </p:nvSpPr>
        <p:spPr>
          <a:xfrm>
            <a:off x="6464807" y="4123944"/>
            <a:ext cx="64008" cy="64008"/>
          </a:xfrm>
          <a:prstGeom prst="ellipse">
            <a:avLst/>
          </a:prstGeom>
          <a:solidFill>
            <a:srgbClr val="C2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47688" y="4005072"/>
            <a:ext cx="4983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Dosage guard over-refuses valid questions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47688" y="4251960"/>
            <a:ext cx="4983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A8C6E8"/>
                </a:solidFill>
                <a:latin typeface="Calibri"/>
              </a:rPr>
              <a:t>“Stop steroids during sepsis?” rejected in 12.8 ms before retrieval</a:t>
            </a:r>
          </a:p>
        </p:txBody>
      </p:sp>
      <p:sp>
        <p:nvSpPr>
          <p:cNvPr id="30" name="Oval 29"/>
          <p:cNvSpPr/>
          <p:nvPr/>
        </p:nvSpPr>
        <p:spPr>
          <a:xfrm>
            <a:off x="6464807" y="4672583"/>
            <a:ext cx="64008" cy="64008"/>
          </a:xfrm>
          <a:prstGeom prst="ellipse">
            <a:avLst/>
          </a:prstGeom>
          <a:solidFill>
            <a:srgbClr val="C2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47688" y="4553712"/>
            <a:ext cx="4983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Recall@5 below its 85% gate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7688" y="4800600"/>
            <a:ext cx="4983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A8C6E8"/>
                </a:solidFill>
                <a:latin typeface="Calibri"/>
              </a:rPr>
              <a:t>34 chunks from one guideline — corpus needs finer-grained coverage</a:t>
            </a:r>
          </a:p>
        </p:txBody>
      </p:sp>
      <p:sp>
        <p:nvSpPr>
          <p:cNvPr id="33" name="Oval 32"/>
          <p:cNvSpPr/>
          <p:nvPr/>
        </p:nvSpPr>
        <p:spPr>
          <a:xfrm>
            <a:off x="6464807" y="5221223"/>
            <a:ext cx="64008" cy="64008"/>
          </a:xfrm>
          <a:prstGeom prst="ellipse">
            <a:avLst/>
          </a:prstGeom>
          <a:solidFill>
            <a:srgbClr val="C2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47688" y="5102351"/>
            <a:ext cx="4983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Unit tests write to the production index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7688" y="5349240"/>
            <a:ext cx="4983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A8C6E8"/>
                </a:solidFill>
                <a:latin typeface="Calibri"/>
              </a:rPr>
              <a:t>Isolate the Chroma path used by the test suite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742432"/>
            <a:ext cx="11064240" cy="548640"/>
          </a:xfrm>
          <a:prstGeom prst="roundRect">
            <a:avLst/>
          </a:prstGeom>
          <a:solidFill>
            <a:srgbClr val="1B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1247" y="574243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Calibri"/>
              </a:rPr>
              <a:t>A clinical assistant earns trust by showing what it got wrong. Every number in this deck is reproducible: python scripts/run_clinical_evaluation.py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A8C6E8"/>
                </a:solidFill>
                <a:latin typeface="Calibri"/>
              </a:rPr>
              <a:t>EVA AI  •  Clinical Decision Support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A8C6E8"/>
                </a:solidFill>
                <a:latin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991773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AF784E7-F090-4E9C-B874-C7AED234A95B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016a4dcb-967d-443a-a185-b614ce1a00c8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0E7F0C10-D72B-4273-893C-4CD1701E8AAE}">
  <we:reference id="wa200010215" version="2.0.0.0" store="en-US" storeType="OMEX"/>
  <we:alternateReferences>
    <we:reference id="WA200010215" version="2.0.0.0" store="WA200010215" storeType="OMEX"/>
  </we:alternateReferences>
  <we:properties>
    <we:property name="bps.codex_control.document_id" value="&quot;5cbd9b71-a9af-44e4-a008-4c0b2e757fbe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C7FF4CA8E706E48993A541681700985" ma:contentTypeVersion="10" ma:contentTypeDescription="Create a new document." ma:contentTypeScope="" ma:versionID="5760f3c3b6a59cbb504dbf2aa32887a6">
  <xsd:schema xmlns:xsd="http://www.w3.org/2001/XMLSchema" xmlns:xs="http://www.w3.org/2001/XMLSchema" xmlns:p="http://schemas.microsoft.com/office/2006/metadata/properties" xmlns:ns3="20d2c42f-2cdc-4bf1-9c6d-1e3ea3264dd8" targetNamespace="http://schemas.microsoft.com/office/2006/metadata/properties" ma:root="true" ma:fieldsID="1c726e2be099fec27cf8e58207063da1" ns3:_="">
    <xsd:import namespace="20d2c42f-2cdc-4bf1-9c6d-1e3ea3264dd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MediaServiceDateTaken" minOccurs="0"/>
                <xsd:element ref="ns3:_activity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d2c42f-2cdc-4bf1-9c6d-1e3ea3264dd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0d2c42f-2cdc-4bf1-9c6d-1e3ea3264dd8" xsi:nil="true"/>
  </documentManagement>
</p:properties>
</file>

<file path=customXml/itemProps1.xml><?xml version="1.0" encoding="utf-8"?>
<ds:datastoreItem xmlns:ds="http://schemas.openxmlformats.org/officeDocument/2006/customXml" ds:itemID="{032869A0-E829-4DD0-9288-FCB44FA834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0d2c42f-2cdc-4bf1-9c6d-1e3ea3264dd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4DFA970-73FC-43FA-9FCB-4AC491D45F4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70C67D0-BC54-432B-BE52-6D06FB101013}">
  <ds:schemaRefs>
    <ds:schemaRef ds:uri="http://schemas.microsoft.com/office/2006/metadata/properties"/>
    <ds:schemaRef ds:uri="http://schemas.microsoft.com/office/infopath/2007/PartnerControls"/>
    <ds:schemaRef ds:uri="20d2c42f-2cdc-4bf1-9c6d-1e3ea3264dd8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2591</Words>
  <Application>Microsoft Office PowerPoint</Application>
  <PresentationFormat>Widescreen</PresentationFormat>
  <Paragraphs>424</Paragraphs>
  <Slides>15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Ibrahim Abdusattar Abdusattar Abdelgawad</cp:lastModifiedBy>
  <cp:revision>3</cp:revision>
  <dcterms:created xsi:type="dcterms:W3CDTF">2026-08-20T06:57:03Z</dcterms:created>
  <dcterms:modified xsi:type="dcterms:W3CDTF">2026-08-20T09:44:12Z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0x0101008C7FF4CA8E706E48993A541681700985</vt:lpwstr>
  </property>
</Properties>
</file>