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1.png"/><Relationship Id="rId7" Type="http://schemas.openxmlformats.org/officeDocument/2006/relationships/image" Target="../media/image-7-5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E5E9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7BA4D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 AI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868680" y="2999232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7BA4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992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· RAG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AI for adrenal insufficiency care, built on NICE Guideline NG243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traced to a page. Every claim backed by a citation. Nothing else.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4124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TEST CASES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3872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3872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RECALL@5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3620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FAIL-CLOSED GUARDRAIL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3368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3368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08415" y="384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· Hackathon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Eva AI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23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is an evidence-grounded Retrieval-Augmented Generation platform that helps clinicians, GPs, and clinical trainees answer questions about adrenal insufficiency — identification, diagnosis, emergency crisis management, and sick-day dosing — strictly from NICE Guideline NG243.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623560" cy="3063240"/>
          </a:xfrm>
          <a:prstGeom prst="roundRect">
            <a:avLst>
              <a:gd name="adj" fmla="val 2687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system helps clinicians and clinical trainees answer questions about adrenal insufficiency identification and management using NICE guideline NG243 and registered supporting official sources.”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research prototype — not a diagnostic or emergency triage tool.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0" name="Image 0" descr="/home/claude/eva_pptx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52704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68312" y="138988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RAG Chatbot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68312" y="16824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streaming answers with inline structural citations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446520" y="228600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4" name="Image 1" descr="/home/claude/eva_pptx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395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68312" y="22585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Inspector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068312" y="25511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evidence cards with verbatim text, page &amp; relevance score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446520" y="315468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8" name="Image 2" descr="/home/claude/eva_pptx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326440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8312" y="312724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Arabic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068312" y="34198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interface with native medical terminology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2" name="Image 3" descr="/home/claude/eva_pptx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1330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68312" y="39959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 Fallback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68312" y="42885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resilience if the Gemini API is rate-limited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46520" y="489204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6" name="Image 4" descr="/home/claude/eva_pptx/icons/c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500176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68312" y="48646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Caching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068312" y="51572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Sub-5ms warm queries — a 492x speedup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446520" y="576072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0" name="Image 5" descr="/home/claude/eva_pptx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58704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68312" y="573328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Guardrails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068312" y="60258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defense, scope refusal, evidence abstention</a:t>
            </a:r>
            <a:endParaRPr lang="en-US" sz="108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Guidelines Are Trustworthy. Generic AI Isn’t.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6" name="Image 0" descr="/home/claude/eva_pptx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are long &amp; dense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spans dozens of pages of numbered recommendations, sick-day rules, and emergency protocols — too slow to search under time pressure.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98424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1" name="Image 1" descr="/home/claude/eva_pptx/icons/ba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12598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LLMs hallucinate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6248" y="260604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chatbots answer confidently from parametric memory, with no guarantee an answer traces back to a real, current, registered guideline.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431596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6" name="Image 2" descr="/home/claude/eva_pptx/icons/x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5770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doses can be fatal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93776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confused unit (100mg vs 100g) or a wrongly-negated instruction (“stop steroids” during sepsis) can precipitate a fatal adrenal crisis.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56248" y="431596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1" name="Image 3" descr="/home/claude/eva_pptx/icon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4577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 for manual lookup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6248" y="493776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adrenal crisis or sick-day decision, clinicians need a verified, page-cited answer in seconds — not a 60-page PDF search.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First. Answer Second. Refuse Otherwise.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pairs a high-performance FastAPI backend with a Next.js 15 Soft-UI frontend around one non-negotiable idea: no generation path exists that can bypass retrieval. The LLM only ever paraphrases evidence it was just handed — it cannot answer from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743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8211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2" name="Image 1" descr="/home/claude/eva_pptx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743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Verify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0819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0196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7" name="Image 2" descr="/home/claude/eva_pptx/icons/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743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3427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20" name="Shape 15"/>
          <p:cNvSpPr/>
          <p:nvPr/>
        </p:nvSpPr>
        <p:spPr>
          <a:xfrm>
            <a:off x="932688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2804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2" name="Image 3" descr="/home/claude/eva_pptx/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7432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9556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Claim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703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CONSTITUTION — SIX GUIDING PRINCIPLES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13232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13232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Answers Only</a:t>
            </a:r>
            <a:endParaRPr lang="en-US" sz="1130" dirty="0"/>
          </a:p>
        </p:txBody>
      </p:sp>
      <p:sp>
        <p:nvSpPr>
          <p:cNvPr id="28" name="Text 22"/>
          <p:cNvSpPr/>
          <p:nvPr/>
        </p:nvSpPr>
        <p:spPr>
          <a:xfrm>
            <a:off x="713232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path can bypass retrieval</a:t>
            </a:r>
            <a:endParaRPr lang="en-US" sz="940" dirty="0"/>
          </a:p>
        </p:txBody>
      </p:sp>
      <p:sp>
        <p:nvSpPr>
          <p:cNvPr id="29" name="Shape 23"/>
          <p:cNvSpPr/>
          <p:nvPr/>
        </p:nvSpPr>
        <p:spPr>
          <a:xfrm>
            <a:off x="4370832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535424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4535424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Metadata Is Structural</a:t>
            </a:r>
            <a:endParaRPr lang="en-US" sz="1130" dirty="0"/>
          </a:p>
        </p:txBody>
      </p:sp>
      <p:sp>
        <p:nvSpPr>
          <p:cNvPr id="32" name="Text 26"/>
          <p:cNvSpPr/>
          <p:nvPr/>
        </p:nvSpPr>
        <p:spPr>
          <a:xfrm>
            <a:off x="4535424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page, section &amp; chunk id on every vector entry</a:t>
            </a:r>
            <a:endParaRPr lang="en-US" sz="940" dirty="0"/>
          </a:p>
        </p:txBody>
      </p:sp>
      <p:sp>
        <p:nvSpPr>
          <p:cNvPr id="33" name="Shape 27"/>
          <p:cNvSpPr/>
          <p:nvPr/>
        </p:nvSpPr>
        <p:spPr>
          <a:xfrm>
            <a:off x="8193024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8357616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8357616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Legitimacy &amp; Provenance</a:t>
            </a:r>
            <a:endParaRPr lang="en-US" sz="1130" dirty="0"/>
          </a:p>
        </p:txBody>
      </p:sp>
      <p:sp>
        <p:nvSpPr>
          <p:cNvPr id="36" name="Text 30"/>
          <p:cNvSpPr/>
          <p:nvPr/>
        </p:nvSpPr>
        <p:spPr>
          <a:xfrm>
            <a:off x="8357616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corpus PDF registered with credibility justification</a:t>
            </a:r>
            <a:endParaRPr lang="en-US" sz="940" dirty="0"/>
          </a:p>
        </p:txBody>
      </p:sp>
      <p:sp>
        <p:nvSpPr>
          <p:cNvPr id="37" name="Shape 31"/>
          <p:cNvSpPr/>
          <p:nvPr/>
        </p:nvSpPr>
        <p:spPr>
          <a:xfrm>
            <a:off x="548640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13232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713232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 Discipline</a:t>
            </a:r>
            <a:endParaRPr lang="en-US" sz="1130" dirty="0"/>
          </a:p>
        </p:txBody>
      </p:sp>
      <p:sp>
        <p:nvSpPr>
          <p:cNvPr id="40" name="Text 34"/>
          <p:cNvSpPr/>
          <p:nvPr/>
        </p:nvSpPr>
        <p:spPr>
          <a:xfrm>
            <a:off x="713232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strictly to adrenal insufficiency (NG243)</a:t>
            </a:r>
            <a:endParaRPr lang="en-US" sz="940" dirty="0"/>
          </a:p>
        </p:txBody>
      </p:sp>
      <p:sp>
        <p:nvSpPr>
          <p:cNvPr id="41" name="Shape 35"/>
          <p:cNvSpPr/>
          <p:nvPr/>
        </p:nvSpPr>
        <p:spPr>
          <a:xfrm>
            <a:off x="4370832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4535424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4535424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Delivery</a:t>
            </a:r>
            <a:endParaRPr lang="en-US" sz="1130" dirty="0"/>
          </a:p>
        </p:txBody>
      </p:sp>
      <p:sp>
        <p:nvSpPr>
          <p:cNvPr id="44" name="Text 38"/>
          <p:cNvSpPr/>
          <p:nvPr/>
        </p:nvSpPr>
        <p:spPr>
          <a:xfrm>
            <a:off x="4535424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verified &amp; benchmarked before generation shipped</a:t>
            </a:r>
            <a:endParaRPr lang="en-US" sz="940" dirty="0"/>
          </a:p>
        </p:txBody>
      </p:sp>
      <p:sp>
        <p:nvSpPr>
          <p:cNvPr id="45" name="Shape 39"/>
          <p:cNvSpPr/>
          <p:nvPr/>
        </p:nvSpPr>
        <p:spPr>
          <a:xfrm>
            <a:off x="8193024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8357616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7" name="Text 41"/>
          <p:cNvSpPr/>
          <p:nvPr/>
        </p:nvSpPr>
        <p:spPr>
          <a:xfrm>
            <a:off x="8357616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Over Confidence</a:t>
            </a:r>
            <a:endParaRPr lang="en-US" sz="1130" dirty="0"/>
          </a:p>
        </p:txBody>
      </p:sp>
      <p:sp>
        <p:nvSpPr>
          <p:cNvPr id="48" name="Text 42"/>
          <p:cNvSpPr/>
          <p:nvPr/>
        </p:nvSpPr>
        <p:spPr>
          <a:xfrm>
            <a:off x="8357616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 is shown, never hidden</a:t>
            </a:r>
            <a:endParaRPr lang="en-US" sz="940" dirty="0"/>
          </a:p>
        </p:txBody>
      </p:sp>
      <p:sp>
        <p:nvSpPr>
          <p:cNvPr id="49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Component Topology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runs two processes (FastAPI :8000 + Next.js :3000); production serves the static frontend export from a single FastAPI process.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15981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/ React 19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862072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Answer Inspector (page.tsx)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483864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ChatView — SSE streaming chat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4105656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SearchBox — Retrieve / Generate toggle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4727448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7" name="Text 14"/>
          <p:cNvSpPr/>
          <p:nvPr/>
        </p:nvSpPr>
        <p:spPr>
          <a:xfrm>
            <a:off x="987552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AnswerCard &amp; ChunkCard components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534924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عربي Toggle + Theme Toggle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78808" y="3790188"/>
            <a:ext cx="146304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21" name="Shape 18"/>
          <p:cNvSpPr/>
          <p:nvPr/>
        </p:nvSpPr>
        <p:spPr>
          <a:xfrm>
            <a:off x="4325112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0D2440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81144" y="2039112"/>
            <a:ext cx="502920" cy="502920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3" name="Image 1" descr="/home/claude/eva_pptx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2159813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93792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193792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Monolith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99432" y="286207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7" name="Text 23"/>
          <p:cNvSpPr/>
          <p:nvPr/>
        </p:nvSpPr>
        <p:spPr>
          <a:xfrm>
            <a:off x="4764024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api/search.py — Search &amp; Health API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99432" y="3483864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9" name="Text 25"/>
          <p:cNvSpPr/>
          <p:nvPr/>
        </p:nvSpPr>
        <p:spPr>
          <a:xfrm>
            <a:off x="4764024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api/generate.py — Generation &amp; SSE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99432" y="4105656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1" name="Text 27"/>
          <p:cNvSpPr/>
          <p:nvPr/>
        </p:nvSpPr>
        <p:spPr>
          <a:xfrm>
            <a:off x="4764024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Retrieval · Generation engines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99432" y="4727448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3" name="Text 29"/>
          <p:cNvSpPr/>
          <p:nvPr/>
        </p:nvSpPr>
        <p:spPr>
          <a:xfrm>
            <a:off x="4764024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monitoring/sentry.py — PHI-safe tracing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99432" y="5349240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5" name="Text 31"/>
          <p:cNvSpPr/>
          <p:nvPr/>
        </p:nvSpPr>
        <p:spPr>
          <a:xfrm>
            <a:off x="4764024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 — ingest / query / eval / benchmark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955280" y="3790188"/>
            <a:ext cx="146304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37" name="Shape 33"/>
          <p:cNvSpPr/>
          <p:nvPr/>
        </p:nvSpPr>
        <p:spPr>
          <a:xfrm>
            <a:off x="8101584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357616" y="2039112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9" name="Image 2" descr="/home/claude/eva_pptx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2159813"/>
            <a:ext cx="261518" cy="26151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970264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8970264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Layer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75904" y="2862072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43" name="Text 38"/>
          <p:cNvSpPr/>
          <p:nvPr/>
        </p:nvSpPr>
        <p:spPr>
          <a:xfrm>
            <a:off x="8540496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(data/index/)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375904" y="3483864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45" name="Text 40"/>
          <p:cNvSpPr/>
          <p:nvPr/>
        </p:nvSpPr>
        <p:spPr>
          <a:xfrm>
            <a:off x="8540496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— self-describing index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375904" y="4105656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47" name="Text 42"/>
          <p:cNvSpPr/>
          <p:nvPr/>
        </p:nvSpPr>
        <p:spPr>
          <a:xfrm>
            <a:off x="8540496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sources.yaml — provenance registry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8375904" y="4727448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49" name="Text 44"/>
          <p:cNvSpPr/>
          <p:nvPr/>
        </p:nvSpPr>
        <p:spPr>
          <a:xfrm>
            <a:off x="8540496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data/corpus/ — registered NG243 PDFs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375904" y="534924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51" name="Text 46"/>
          <p:cNvSpPr/>
          <p:nvPr/>
        </p:nvSpPr>
        <p:spPr>
          <a:xfrm>
            <a:off x="8540496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OmniRoute / OpenRouter Gateway API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Clinical PDF to Citation-Ready Vector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NICE guideline PDFs become section-aware, atomic, citation-ready chunks without losing clinical context.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568196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0" name="Image 0" descr="/home/claude/eva_pptx/icons/checkShield_sapph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6517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Extraction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" y="38221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registry check vs sources.yaml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731520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" y="44074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span extraction (font, weight, page #)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264408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7" name="Shape 14"/>
          <p:cNvSpPr/>
          <p:nvPr/>
        </p:nvSpPr>
        <p:spPr>
          <a:xfrm>
            <a:off x="3447288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47288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</p:sp>
      <p:sp>
        <p:nvSpPr>
          <p:cNvPr id="19" name="Shape 16"/>
          <p:cNvSpPr/>
          <p:nvPr/>
        </p:nvSpPr>
        <p:spPr>
          <a:xfrm>
            <a:off x="3447288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</p:sp>
      <p:sp>
        <p:nvSpPr>
          <p:cNvPr id="20" name="Text 17"/>
          <p:cNvSpPr/>
          <p:nvPr/>
        </p:nvSpPr>
        <p:spPr>
          <a:xfrm>
            <a:off x="3630168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66844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2" name="Image 1" descr="/home/claude/eva_pptx/icons/scissors_sapph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651760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584448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Structure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3630168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5" name="Text 21"/>
          <p:cNvSpPr/>
          <p:nvPr/>
        </p:nvSpPr>
        <p:spPr>
          <a:xfrm>
            <a:off x="3776472" y="38221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boilerplate / footer removal</a:t>
            </a:r>
            <a:endParaRPr lang="en-US" sz="960" dirty="0"/>
          </a:p>
        </p:txBody>
      </p:sp>
      <p:sp>
        <p:nvSpPr>
          <p:cNvPr id="26" name="Shape 22"/>
          <p:cNvSpPr/>
          <p:nvPr/>
        </p:nvSpPr>
        <p:spPr>
          <a:xfrm>
            <a:off x="3630168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7" name="Text 23"/>
          <p:cNvSpPr/>
          <p:nvPr/>
        </p:nvSpPr>
        <p:spPr>
          <a:xfrm>
            <a:off x="3776472" y="44074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 &amp; hyphenation repair</a:t>
            </a:r>
            <a:endParaRPr lang="en-US" sz="960" dirty="0"/>
          </a:p>
        </p:txBody>
      </p:sp>
      <p:sp>
        <p:nvSpPr>
          <p:cNvPr id="28" name="Shape 24"/>
          <p:cNvSpPr/>
          <p:nvPr/>
        </p:nvSpPr>
        <p:spPr>
          <a:xfrm>
            <a:off x="3630168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9" name="Text 25"/>
          <p:cNvSpPr/>
          <p:nvPr/>
        </p:nvSpPr>
        <p:spPr>
          <a:xfrm>
            <a:off x="3776472" y="49926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hierarchy detection (1.1 / 1.1.1)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6163056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31" name="Shape 27"/>
          <p:cNvSpPr/>
          <p:nvPr/>
        </p:nvSpPr>
        <p:spPr>
          <a:xfrm>
            <a:off x="6345936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45936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</p:sp>
      <p:sp>
        <p:nvSpPr>
          <p:cNvPr id="33" name="Shape 29"/>
          <p:cNvSpPr/>
          <p:nvPr/>
        </p:nvSpPr>
        <p:spPr>
          <a:xfrm>
            <a:off x="6345936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</p:sp>
      <p:sp>
        <p:nvSpPr>
          <p:cNvPr id="34" name="Text 30"/>
          <p:cNvSpPr/>
          <p:nvPr/>
        </p:nvSpPr>
        <p:spPr>
          <a:xfrm>
            <a:off x="6528816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7365492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6" name="Image 2" descr="/home/claude/eva_pptx/icons/layers_sapph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2651760"/>
            <a:ext cx="329184" cy="3291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83096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Chunking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6528816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9" name="Text 34"/>
          <p:cNvSpPr/>
          <p:nvPr/>
        </p:nvSpPr>
        <p:spPr>
          <a:xfrm>
            <a:off x="6675120" y="38221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recommendations never split</a:t>
            </a:r>
            <a:endParaRPr lang="en-US" sz="960" dirty="0"/>
          </a:p>
        </p:txBody>
      </p:sp>
      <p:sp>
        <p:nvSpPr>
          <p:cNvPr id="40" name="Shape 35"/>
          <p:cNvSpPr/>
          <p:nvPr/>
        </p:nvSpPr>
        <p:spPr>
          <a:xfrm>
            <a:off x="6528816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41" name="Text 36"/>
          <p:cNvSpPr/>
          <p:nvPr/>
        </p:nvSpPr>
        <p:spPr>
          <a:xfrm>
            <a:off x="6675120" y="44074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budget packing (400–800 tok)</a:t>
            </a:r>
            <a:endParaRPr lang="en-US" sz="960" dirty="0"/>
          </a:p>
        </p:txBody>
      </p:sp>
      <p:sp>
        <p:nvSpPr>
          <p:cNvPr id="42" name="Shape 37"/>
          <p:cNvSpPr/>
          <p:nvPr/>
        </p:nvSpPr>
        <p:spPr>
          <a:xfrm>
            <a:off x="6528816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43" name="Text 38"/>
          <p:cNvSpPr/>
          <p:nvPr/>
        </p:nvSpPr>
        <p:spPr>
          <a:xfrm>
            <a:off x="6675120" y="49926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chunks flagged, kept whole</a:t>
            </a:r>
            <a:endParaRPr lang="en-US" sz="960" dirty="0"/>
          </a:p>
        </p:txBody>
      </p:sp>
      <p:sp>
        <p:nvSpPr>
          <p:cNvPr id="44" name="Shape 39"/>
          <p:cNvSpPr/>
          <p:nvPr/>
        </p:nvSpPr>
        <p:spPr>
          <a:xfrm>
            <a:off x="9061704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45" name="Shape 40"/>
          <p:cNvSpPr/>
          <p:nvPr/>
        </p:nvSpPr>
        <p:spPr>
          <a:xfrm>
            <a:off x="9244584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9244584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</p:sp>
      <p:sp>
        <p:nvSpPr>
          <p:cNvPr id="47" name="Shape 42"/>
          <p:cNvSpPr/>
          <p:nvPr/>
        </p:nvSpPr>
        <p:spPr>
          <a:xfrm>
            <a:off x="9244584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</p:sp>
      <p:sp>
        <p:nvSpPr>
          <p:cNvPr id="48" name="Text 43"/>
          <p:cNvSpPr/>
          <p:nvPr/>
        </p:nvSpPr>
        <p:spPr>
          <a:xfrm>
            <a:off x="9427464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10264140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50" name="Image 3" descr="/home/claude/eva_pptx/icons/database_sapphi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732" y="2651760"/>
            <a:ext cx="329184" cy="32918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9381744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&amp; Indexing</a:t>
            </a:r>
            <a:endParaRPr lang="en-US" sz="1350" dirty="0"/>
          </a:p>
        </p:txBody>
      </p:sp>
      <p:sp>
        <p:nvSpPr>
          <p:cNvPr id="52" name="Shape 46"/>
          <p:cNvSpPr/>
          <p:nvPr/>
        </p:nvSpPr>
        <p:spPr>
          <a:xfrm>
            <a:off x="9427464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53" name="Text 47"/>
          <p:cNvSpPr/>
          <p:nvPr/>
        </p:nvSpPr>
        <p:spPr>
          <a:xfrm>
            <a:off x="9573768" y="38221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1536-dim embeddings</a:t>
            </a:r>
            <a:endParaRPr lang="en-US" sz="960" dirty="0"/>
          </a:p>
        </p:txBody>
      </p:sp>
      <p:sp>
        <p:nvSpPr>
          <p:cNvPr id="54" name="Shape 48"/>
          <p:cNvSpPr/>
          <p:nvPr/>
        </p:nvSpPr>
        <p:spPr>
          <a:xfrm>
            <a:off x="9427464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55" name="Text 49"/>
          <p:cNvSpPr/>
          <p:nvPr/>
        </p:nvSpPr>
        <p:spPr>
          <a:xfrm>
            <a:off x="9573768" y="44074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atomic collection swap</a:t>
            </a:r>
            <a:endParaRPr lang="en-US" sz="960" dirty="0"/>
          </a:p>
        </p:txBody>
      </p:sp>
      <p:sp>
        <p:nvSpPr>
          <p:cNvPr id="56" name="Shape 50"/>
          <p:cNvSpPr/>
          <p:nvPr/>
        </p:nvSpPr>
        <p:spPr>
          <a:xfrm>
            <a:off x="9427464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57" name="Text 51"/>
          <p:cNvSpPr/>
          <p:nvPr/>
        </p:nvSpPr>
        <p:spPr>
          <a:xfrm>
            <a:off x="9573768" y="49926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generation</a:t>
            </a:r>
            <a:endParaRPr lang="en-US" sz="960" dirty="0"/>
          </a:p>
        </p:txBody>
      </p:sp>
      <p:sp>
        <p:nvSpPr>
          <p:cNvPr id="58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→ Evidence → Answer, or a Safe Refusal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passes through three fail-closed gates before an LLM ever generates a token.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6" name="Image 0" descr="/home/claude/eva_pptx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79222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submits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0432" y="20665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“What is the emergency dose of hydrocortisone?”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0" cy="219456"/>
          </a:xfrm>
          <a:prstGeom prst="line">
            <a:avLst/>
          </a:prstGeom>
          <a:noFill/>
          <a:ln w="19050">
            <a:solidFill>
              <a:srgbClr val="C9DC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1" name="Image 1" descr="/home/claude/eva_pptx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68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4505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Injection Guard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70432" y="27249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regex patterns catch jailbreaks &amp; prompt-reveal attempts (&lt;1ms)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777240" y="2944368"/>
            <a:ext cx="0" cy="219456"/>
          </a:xfrm>
          <a:prstGeom prst="line">
            <a:avLst/>
          </a:prstGeom>
          <a:noFill/>
          <a:ln w="19050">
            <a:solidFill>
              <a:srgbClr val="C9DC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6" name="Image 2" descr="/home/claude/eva_pptx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5526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108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 — Hybrid Search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70432" y="3383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cosine + BM25 fused with Reciprocal Rank Fusion (k=60)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777240" y="3602736"/>
            <a:ext cx="0" cy="219456"/>
          </a:xfrm>
          <a:prstGeom prst="line">
            <a:avLst/>
          </a:prstGeom>
          <a:noFill/>
          <a:ln w="19050">
            <a:solidFill>
              <a:srgbClr val="C9DC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1" name="Image 3" descr="/home/claude/eva_pptx/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1363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76732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Scope Classifier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70432" y="40416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out_of_scope → refuse · in_scope → continue (threshold 0.005)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777240" y="4261104"/>
            <a:ext cx="0" cy="219456"/>
          </a:xfrm>
          <a:prstGeom prst="line">
            <a:avLst/>
          </a:prstGeom>
          <a:noFill/>
          <a:ln w="19050">
            <a:solidFill>
              <a:srgbClr val="C9DC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6" name="Image 4" descr="/home/claude/eva_pptx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720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44256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Floor Guard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70432" y="47000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relevance_floor 0.30 — weak matches flagged, not hidden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777240" y="4919472"/>
            <a:ext cx="0" cy="219456"/>
          </a:xfrm>
          <a:prstGeom prst="line">
            <a:avLst/>
          </a:prstGeom>
          <a:noFill/>
          <a:ln w="19050">
            <a:solidFill>
              <a:srgbClr val="C9DC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1" name="Image 5" descr="/home/claude/eva_pptx/icons/messa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23036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70432" y="508406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Answer — Grounded Generation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70432" y="53583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OmniRoute LLM paraphrases evidence only, with inline [Source N] citations</a:t>
            </a:r>
            <a:endParaRPr lang="en-US" sz="960" dirty="0"/>
          </a:p>
        </p:txBody>
      </p:sp>
      <p:sp>
        <p:nvSpPr>
          <p:cNvPr id="34" name="Shape 26"/>
          <p:cNvSpPr/>
          <p:nvPr/>
        </p:nvSpPr>
        <p:spPr>
          <a:xfrm>
            <a:off x="7178040" y="1828800"/>
            <a:ext cx="4480560" cy="1874520"/>
          </a:xfrm>
          <a:prstGeom prst="roundRect">
            <a:avLst>
              <a:gd name="adj" fmla="val 4390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06640" y="2029968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6" name="Image 6" descr="/home/claude/eva_pptx/icons/check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341" y="2150669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028432" y="2029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406640" y="2432304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found → grounded answer streamed with structural citations (document, section, page).</a:t>
            </a:r>
            <a:endParaRPr lang="en-US" sz="1060" dirty="0"/>
          </a:p>
        </p:txBody>
      </p:sp>
      <p:sp>
        <p:nvSpPr>
          <p:cNvPr id="39" name="Shape 30"/>
          <p:cNvSpPr/>
          <p:nvPr/>
        </p:nvSpPr>
        <p:spPr>
          <a:xfrm>
            <a:off x="7178040" y="3886200"/>
            <a:ext cx="4480560" cy="1920240"/>
          </a:xfrm>
          <a:prstGeom prst="roundRect">
            <a:avLst>
              <a:gd name="adj" fmla="val 4286"/>
            </a:avLst>
          </a:prstGeom>
          <a:solidFill>
            <a:srgbClr val="0D2440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406640" y="4087368"/>
            <a:ext cx="502920" cy="502920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41" name="Image 7" descr="/home/claude/eva_pptx/icons/xCir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341" y="4208069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028432" y="4087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/ ABSTAIN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7406640" y="44805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detected, out-of-scope, or no evidence above the floor → a clear refusal message is returned instead of a guess.</a:t>
            </a:r>
            <a:endParaRPr lang="en-US" sz="1060" dirty="0"/>
          </a:p>
        </p:txBody>
      </p:sp>
      <p:sp>
        <p:nvSpPr>
          <p:cNvPr id="44" name="Shape 34"/>
          <p:cNvSpPr/>
          <p:nvPr/>
        </p:nvSpPr>
        <p:spPr>
          <a:xfrm>
            <a:off x="7178040" y="5943600"/>
            <a:ext cx="4480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360920" y="594360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 — abstention is always preferred over a fabricated answer.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Dual Retrieval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retrievers run every query in parallel — each returns a fully-structured, citation-ready result, not just raw text.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208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Cosine Retriever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3317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6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retrieval/dense.py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query, queries ChromaDB for nearest vectors, scores by 1 − distance. Captures semantic / paraphrased meaning.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11112" y="2039112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3" name="Image 1" descr="/home/claude/eva_pptx/icons/h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1762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0208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Retriever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0" y="23317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6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retrieval/bm25.py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629400" y="27889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clinical tokenizer scores exact term overlap — catches precise drug names, doses, and section numbers dense search can miss.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0" y="3749040"/>
            <a:ext cx="0" cy="320040"/>
          </a:xfrm>
          <a:prstGeom prst="line">
            <a:avLst/>
          </a:prstGeom>
          <a:noFill/>
          <a:ln w="25400">
            <a:solidFill>
              <a:srgbClr val="7BA4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006840" y="3749040"/>
            <a:ext cx="0" cy="320040"/>
          </a:xfrm>
          <a:prstGeom prst="line">
            <a:avLst/>
          </a:prstGeom>
          <a:noFill/>
          <a:ln w="25400">
            <a:solidFill>
              <a:srgbClr val="7BA4D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0" y="4069080"/>
            <a:ext cx="5806440" cy="0"/>
          </a:xfrm>
          <a:prstGeom prst="line">
            <a:avLst/>
          </a:prstGeom>
          <a:noFill/>
          <a:ln w="25400">
            <a:solidFill>
              <a:srgbClr val="7BA4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94476" y="4069080"/>
            <a:ext cx="0" cy="274320"/>
          </a:xfrm>
          <a:prstGeom prst="line">
            <a:avLst/>
          </a:prstGeom>
          <a:noFill/>
          <a:ln w="25400">
            <a:solidFill>
              <a:srgbClr val="7BA4D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91840" y="4251960"/>
            <a:ext cx="5577840" cy="685800"/>
          </a:xfrm>
          <a:prstGeom prst="roundRect">
            <a:avLst>
              <a:gd name="adj" fmla="val 12000"/>
            </a:avLst>
          </a:prstGeom>
          <a:solidFill>
            <a:srgbClr val="2E5E99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291840" y="42519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 (k = 60)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094476" y="4937760"/>
            <a:ext cx="0" cy="256032"/>
          </a:xfrm>
          <a:prstGeom prst="line">
            <a:avLst/>
          </a:prstGeom>
          <a:noFill/>
          <a:ln w="25400">
            <a:solidFill>
              <a:srgbClr val="7BA4D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8640" y="5193792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22960" y="5193792"/>
            <a:ext cx="10515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RetrievalResult — every returned chunk carries: chunk_id · document_name · page_number · section_title · section_number · source_url · score (rank 1-indexed) · below_floor flag — stored natively, never in an external sidecar file.</a:t>
            </a:r>
            <a:endParaRPr lang="en-US" sz="113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Strategy: Vector + Keyword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lexical search fail in different, complementary ways. Eva AI fuses both ranked lists with Reciprocal Rank Fusion so a chunk ranking highly on either signal surfaces near the 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2011680"/>
          </a:xfrm>
          <a:prstGeom prst="roundRect">
            <a:avLst>
              <a:gd name="adj" fmla="val 4091"/>
            </a:avLst>
          </a:prstGeom>
          <a:solidFill>
            <a:srgbClr val="0D2440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SCORE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score(d) = Σ  weight ×  1 / (k + rankᵢ(d))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i="1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 · summed across the dense and BM25 ranked lists · scores min-max normalised before the relevance floor is applied.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WINS ON THIS CORPUS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5129784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0017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exact drug names &amp; dose numbers (BM25) missed by pure semantic search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6928" y="5605272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4772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paraphrased clinical questions (dense) missed by pure keyword search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66928" y="608076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527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reranker required for the default path — 12ms/query and higher Precision@3 than reranking on this corpus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46520" y="1371600"/>
            <a:ext cx="516636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572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— GOLDEN SET (18 QUESTIONS)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06840" y="20116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95560" y="201168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24323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6840" y="243230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95560" y="243230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2852928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85292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hit 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06840" y="2852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95560" y="285292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27355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mean hit rank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06840" y="32735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95560" y="327355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46520" y="3694176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69417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Precision@3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06840" y="369417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95560" y="36941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  (+47%)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41148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Precision@5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06840" y="41148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95560" y="41148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46520" y="4535424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5354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Precision@3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06840" y="453542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195560" y="453542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5093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sectioning bug that misattributed 61% of the corpus to one section lifted Precision@3 by 47% with zero golden-set misses.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 System: Cross-Encoder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cross-encoder reranker (cross-encoder/ms-marco-MiniLM-L-6-v2) re-scores the fused candidate list with full query–chunk cross-attention — sharper than similarity alone, at a latency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5031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Scoring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(query, chunk) pair is scored jointly by the transformer, then calibrated to [0,1] with a sigmoid.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377440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2" name="Image 1" descr="/home/claude/eva_pptx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25031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Fallback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33375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fails to load or errors at inference, the system falls back to normalised step-decay scoring — it never crashes.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377440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7" name="Image 2" descr="/home/claude/eva_pptx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25031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Fix: -28%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75320" y="33375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Truncating each chunk to 1800 chars before scoring bounded batch padding width — 4437ms → 3194ms/query, same ranking output.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LATENCY — BEFORE vs AFTER TRUNCATION FIX (18 GOLDEN QUESTIONS)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296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240280" y="4892040"/>
            <a:ext cx="5943600" cy="292608"/>
          </a:xfrm>
          <a:prstGeom prst="roundRect">
            <a:avLst>
              <a:gd name="adj" fmla="val 15625"/>
            </a:avLst>
          </a:prstGeom>
          <a:solidFill>
            <a:srgbClr val="7BA4D0"/>
          </a:solidFill>
          <a:ln/>
        </p:spPr>
      </p:sp>
      <p:sp>
        <p:nvSpPr>
          <p:cNvPr id="24" name="Text 19"/>
          <p:cNvSpPr/>
          <p:nvPr/>
        </p:nvSpPr>
        <p:spPr>
          <a:xfrm>
            <a:off x="2240280" y="4892040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4437 ms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22960" y="5349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240280" y="5394960"/>
            <a:ext cx="4278535" cy="292608"/>
          </a:xfrm>
          <a:prstGeom prst="roundRect">
            <a:avLst>
              <a:gd name="adj" fmla="val 15625"/>
            </a:avLst>
          </a:prstGeom>
          <a:solidFill>
            <a:srgbClr val="2E5E99"/>
          </a:solidFill>
          <a:ln/>
        </p:spPr>
      </p:sp>
      <p:sp>
        <p:nvSpPr>
          <p:cNvPr id="27" name="Text 22"/>
          <p:cNvSpPr/>
          <p:nvPr/>
        </p:nvSpPr>
        <p:spPr>
          <a:xfrm>
            <a:off x="2240280" y="5394960"/>
            <a:ext cx="4141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3194 ms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915400" y="443484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0D2440"/>
          </a:solidFill>
          <a:ln/>
        </p:spPr>
      </p:sp>
      <p:sp>
        <p:nvSpPr>
          <p:cNvPr id="29" name="Text 24"/>
          <p:cNvSpPr/>
          <p:nvPr/>
        </p:nvSpPr>
        <p:spPr>
          <a:xfrm>
            <a:off x="8915400" y="4526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-28%</a:t>
            </a:r>
            <a:endParaRPr lang="en-US" sz="3000" dirty="0"/>
          </a:p>
        </p:txBody>
      </p:sp>
      <p:sp>
        <p:nvSpPr>
          <p:cNvPr id="30" name="Text 25"/>
          <p:cNvSpPr/>
          <p:nvPr/>
        </p:nvSpPr>
        <p:spPr>
          <a:xfrm>
            <a:off x="8915400" y="5074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SAME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spc="5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QUALITY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 &amp; Structural Citations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freelances — it assembles, cites, and streams. It cannot answer without evidence in hand.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1991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Assembler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713232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top-ranked chunks into a bounded evidence window with full metadata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64408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2564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3" name="Image 1" descr="/home/claude/eva_pptx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19913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3611880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system prompt: grounding + security constraints, multi-turn history[-4:]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63056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7" name="Shape 13"/>
          <p:cNvSpPr/>
          <p:nvPr/>
        </p:nvSpPr>
        <p:spPr>
          <a:xfrm>
            <a:off x="6345936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11212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9" name="Image 2" descr="/home/claude/eva_pptx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21991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OmniRoute LLM Client</a:t>
            </a:r>
            <a:endParaRPr lang="en-US" sz="1180" dirty="0"/>
          </a:p>
        </p:txBody>
      </p:sp>
      <p:sp>
        <p:nvSpPr>
          <p:cNvPr id="21" name="Text 16"/>
          <p:cNvSpPr/>
          <p:nvPr/>
        </p:nvSpPr>
        <p:spPr>
          <a:xfrm>
            <a:off x="6510528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eva-ai model — async call with tracing spans, ~1.6s vs 4.4s on prior routing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061704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23" name="Shape 18"/>
          <p:cNvSpPr/>
          <p:nvPr/>
        </p:nvSpPr>
        <p:spPr>
          <a:xfrm>
            <a:off x="9244584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309860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5" name="Image 3" descr="/home/claude/eva_pptx/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2199132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1744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Extractor</a:t>
            </a:r>
            <a:endParaRPr lang="en-US" sz="1180" dirty="0"/>
          </a:p>
        </p:txBody>
      </p:sp>
      <p:sp>
        <p:nvSpPr>
          <p:cNvPr id="27" name="Text 21"/>
          <p:cNvSpPr/>
          <p:nvPr/>
        </p:nvSpPr>
        <p:spPr>
          <a:xfrm>
            <a:off x="9409176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[Source N] tags, validates against retrieved chunks, flags abstention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0D2440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GROUNDED RESPONSE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44805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adults with suspected adrenal crisis, administer 100 mg hydrocortisone immediately via IV or IM injection [Source 1]. Do not delay treatment to perform diagnostic investigations.”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22960" y="5623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Streamed via POST /api/generate/stream — SSE events: meta → token → done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589520" y="4343400"/>
            <a:ext cx="3794760" cy="1600200"/>
          </a:xfrm>
          <a:prstGeom prst="roundRect">
            <a:avLst>
              <a:gd name="adj" fmla="val 5143"/>
            </a:avLst>
          </a:prstGeom>
          <a:solidFill>
            <a:srgbClr val="12294B"/>
          </a:solidFill>
          <a:ln/>
        </p:spPr>
      </p:sp>
      <p:sp>
        <p:nvSpPr>
          <p:cNvPr id="33" name="Text 27"/>
          <p:cNvSpPr/>
          <p:nvPr/>
        </p:nvSpPr>
        <p:spPr>
          <a:xfrm>
            <a:off x="78181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 1]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818120" y="477316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· Section 1.7</a:t>
            </a:r>
            <a:endParaRPr lang="en-US" sz="10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management of adrenal crisis</a:t>
            </a:r>
            <a:endParaRPr lang="en-US" sz="10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103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In-Domain Hallucination Prevention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independent, fail-closed layers stand between a query and the LLM — verified by a 77-test stress suite (0 failures).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Injection Guard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deterministic regex patterns block override phrases, DAN/jailbreak personas, prompt-reveal attempts, and delimiter injection — &lt;1ms overhead.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</p:sp>
      <p:sp>
        <p:nvSpPr>
          <p:cNvPr id="11" name="Shape 8"/>
          <p:cNvSpPr/>
          <p:nvPr/>
        </p:nvSpPr>
        <p:spPr>
          <a:xfrm>
            <a:off x="4581144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2" name="Image 1" descr="/home/claude/eva_pptx/icons/filt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2677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Scope Classifier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81144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classify_scope() rejects out-of-scope clinical domains (cardiology, asthma, diabetes) at threshold 0.005 before generation is attempted.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7" name="Image 2" descr="/home/claude/eva_pptx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677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Floor Guard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57616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should_abstain() refuses when every retrieved chunk sits below relevance_floor = 0.30 — weak evidence is shown, never silently used.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GROUNDING PROMPT — 6 RULES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Evidence-Only (no parametric memory)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9768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4" name="Text 19"/>
          <p:cNvSpPr/>
          <p:nvPr/>
        </p:nvSpPr>
        <p:spPr>
          <a:xfrm>
            <a:off x="448056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Citations on every claim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04672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Abstention when evidence absent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28" name="Text 23"/>
          <p:cNvSpPr/>
          <p:nvPr/>
        </p:nvSpPr>
        <p:spPr>
          <a:xfrm>
            <a:off x="73152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Precision — verbatim drug/dose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29768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0" name="Text 25"/>
          <p:cNvSpPr/>
          <p:nvPr/>
        </p:nvSpPr>
        <p:spPr>
          <a:xfrm>
            <a:off x="448056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Enforcement — standard refusal msg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04672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</p:sp>
      <p:sp>
        <p:nvSpPr>
          <p:cNvPr id="32" name="Text 27"/>
          <p:cNvSpPr/>
          <p:nvPr/>
        </p:nvSpPr>
        <p:spPr>
          <a:xfrm>
            <a:off x="822960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 — bullets vs prose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2E5E99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58978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77 grounding, scope &amp; citation tests passing in 2.9s  ·  23/23 known injection patterns detected  ·  11/11 benign queries never blocked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Reaction &amp; Dynamic Feedback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don’t just receive an answer — they inspect the evidence behind it, then refine, in a continuous trust loop.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7340" y="210312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7" name="Image 0" descr="/home/claude/eva_pptx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1089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poses a clinical question in EN or Arabic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172968" y="2875788"/>
            <a:ext cx="201168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1980" y="210312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3" name="Image 1" descr="/home/claude/eva_pptx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47872" y="31089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Inspector shows ranked ChunkCards — score gauge, page, section, verbatim text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6007608" y="2875788"/>
            <a:ext cx="201168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17" name="Shape 13"/>
          <p:cNvSpPr/>
          <p:nvPr/>
        </p:nvSpPr>
        <p:spPr>
          <a:xfrm>
            <a:off x="621792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46620" y="210312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19" name="Image 2" descr="/home/claude/eva_pptx/icons/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240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82512" y="31089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context (history[-4:]) lets the clinician narrow or challenge the answer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8842248" y="2875788"/>
            <a:ext cx="201168" cy="146304"/>
          </a:xfrm>
          <a:prstGeom prst="rightArrow">
            <a:avLst/>
          </a:prstGeom>
          <a:solidFill>
            <a:srgbClr val="7BA4D0"/>
          </a:solidFill>
          <a:ln/>
        </p:spPr>
      </p:sp>
      <p:sp>
        <p:nvSpPr>
          <p:cNvPr id="23" name="Shape 18"/>
          <p:cNvSpPr/>
          <p:nvPr/>
        </p:nvSpPr>
        <p:spPr>
          <a:xfrm>
            <a:off x="905256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81260" y="210312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25" name="Image 3" descr="/home/claude/eva_pptx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2402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217152" y="310896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persisted to localStorage — searchable, exportable consultation history</a:t>
            </a:r>
            <a:endParaRPr lang="en-US" sz="93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11064240" cy="310896"/>
          </a:xfrm>
          <a:prstGeom prst="roundRect">
            <a:avLst>
              <a:gd name="adj" fmla="val 17647"/>
            </a:avLst>
          </a:prstGeom>
          <a:solidFill>
            <a:srgbClr val="E7F0FA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1330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Recall loops directly back into Ask — each follow-up question inherits the trust built by the prior turn's evidence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8640" y="4553712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E7F0FA"/>
          </a:solidFill>
          <a:ln/>
          <a:effectLst>
            <a:outerShdw sx="100000" sy="100000" kx="0" ky="0" algn="bl" rotWithShape="0" blurRad="127000" dist="38100" dir="5400000">
              <a:srgbClr val="1B3A63">
                <a:alpha val="1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2296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BUILDS TRUST, TURN AFTER TURN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3" name="Image 4" descr="/home/claude/eva_pptx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12080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25880" y="50657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 gauge on every retrieved chunk — nothing is a black box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17920" y="5120640"/>
            <a:ext cx="365760" cy="36576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6" name="Image 5" descr="/home/claude/eva_pptx/icons/fileTex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21208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50657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verbatim guideline text + exact page citation on every historical turn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822960" y="5687568"/>
            <a:ext cx="365760" cy="36576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39" name="Image 6" descr="/home/claude/eva_pptx/icons/gitCommi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79008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25880" y="56327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/ Generate mode toggle — clinicians can inspect raw evidence before trusting a synthesized answer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217920" y="5687568"/>
            <a:ext cx="365760" cy="365760"/>
          </a:xfrm>
          <a:prstGeom prst="ellipse">
            <a:avLst/>
          </a:prstGeom>
          <a:solidFill>
            <a:srgbClr val="2E5E99"/>
          </a:solidFill>
          <a:ln/>
          <a:effectLst>
            <a:outerShdw sx="100000" sy="100000" kx="0" ky="0" algn="bl" rotWithShape="0" blurRad="101600" dist="38100" dir="5400000">
              <a:srgbClr val="1B3A63">
                <a:alpha val="28000"/>
              </a:srgbClr>
            </a:outerShdw>
          </a:effectLst>
        </p:spPr>
      </p:sp>
      <p:pic>
        <p:nvPicPr>
          <p:cNvPr id="42" name="Image 7" descr="/home/claude/eva_pptx/icons/refresh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779008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720840" y="56327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retrieval caches invalidate automatically the moment the guideline corpus is re-ingested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2026-08-20T06:57:03Z</dcterms:created>
  <dcterms:modified xsi:type="dcterms:W3CDTF">2026-08-20T06:57:03Z</dcterms:modified>
</cp:coreProperties>
</file>